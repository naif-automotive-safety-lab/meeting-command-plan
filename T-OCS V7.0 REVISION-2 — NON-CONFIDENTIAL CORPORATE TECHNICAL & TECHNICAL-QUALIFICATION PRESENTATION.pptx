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only. Do not add exact dimensions, proprietary mechanism details, CAD/STEP, detailed force/energy assumptions, internal gap files, or unverified performance claims during live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qualification instrument. Keep the closeout factual and measurable.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safety superlatives. The point is to establish why a structured engineering program is warranted, not to claim the problem is 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functional blocks only. If a participant asks for exact implementation, move to the NDA decision gate rather than improvising technical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logic chain to keep the conversation technical. It intentionally does not claim superiority.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required closeout screen. Do not end with a generic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T-OCS V7.0 REVISION-2  |  NON-CONFIDENTIAL  |  L1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651052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Qualification Meeting System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0204C"/>
          </a:solidFill>
          <a:ln w="12700">
            <a:solidFill>
              <a:srgbClr val="1020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932688"/>
            <a:ext cx="1234440" cy="0"/>
          </a:xfrm>
          <a:prstGeom prst="line">
            <a:avLst/>
          </a:prstGeom>
          <a:noFill/>
          <a:ln w="12700">
            <a:solidFill>
              <a:srgbClr val="16B3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170432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7F9FC"/>
                </a:solidFill>
              </a:rPr>
              <a:t>T-OCS V7.0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7F9FC"/>
                </a:solidFill>
              </a:rPr>
              <a:t>REVISION-2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DE6FF"/>
                </a:solidFill>
              </a:rPr>
              <a:t>NON-CONFIDENTIAL CORPORATE TECHNICAL &amp;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DE6FF"/>
                </a:solidFill>
              </a:rPr>
              <a:t>TECHNICAL-QUALIFICATION 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C4DE"/>
                </a:solidFill>
              </a:rPr>
              <a:t>A controlled engineering conversation — not a sales claim, not a validation report, and not a manufacturing release.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98348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05206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6BFF"/>
                </a:solidFill>
              </a:rPr>
              <a:t>L1 • NON-CONFIDENTIAL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5596128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AD7"/>
                </a:solidFill>
              </a:rPr>
              <a:t>Prepared for technical qualification meetings with ARRK Engineering, Calspan Automotive Test Services, and Toyota Boshoku America.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39328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6B3A3"/>
                </a:solidFill>
              </a:rPr>
              <a:t>T-OCS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339328" y="2651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C"/>
                </a:solidFill>
              </a:rPr>
              <a:t>ENGINEERING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9FC"/>
                </a:solidFill>
              </a:rPr>
              <a:t>QUALIFICATION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11312" y="3840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4DE"/>
                </a:solidFill>
              </a:rPr>
              <a:t>Process  •  Evidence  •  Milestones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MEETING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How to use this meeting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2024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1  ALIGN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2231136"/>
            <a:ext cx="319125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Define the engineering problem, the reason it matters, the functional concept, and the current evidence boundary.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The objective is shared technical understanding — not persuasion.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92024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2  QUALIFY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07992" y="2231136"/>
            <a:ext cx="319125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Use C1–C5 to extract actual capability, required evidence, entry criteria, commercial structure, and NDA trigger from the other party.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Every answer is recorded as a factual meeting result.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01000" y="178308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92024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3  CONVERT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65592" y="2231136"/>
            <a:ext cx="319125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Translate the meeting into a Technical Scope → Evidence → Entry Criteria → Action → Deliverable → Acceptance Criterion → Owner → Deadline chain.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5806440"/>
            <a:ext cx="1115568" cy="310896"/>
          </a:xfrm>
          <a:prstGeom prst="roundRect">
            <a:avLst>
              <a:gd name="adj" fmla="val 23529"/>
            </a:avLst>
          </a:prstGeom>
          <a:solidFill>
            <a:srgbClr val="FEEFEF"/>
          </a:solidFill>
          <a:ln w="12700">
            <a:solidFill>
              <a:srgbClr val="FEEF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58750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2318"/>
                </a:solidFill>
              </a:rPr>
              <a:t>HARD STOP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01952" y="5833872"/>
            <a:ext cx="9235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</a:rPr>
              <a:t>No “interested”, “potential partner”, or “good meeting” is treated as an engineering outcome without a measurable conversion.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The engineering 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Dynamic occupant motion is a coupled system problem.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487168"/>
            <a:ext cx="1993392" cy="24231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2432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Occupant motion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935224"/>
            <a:ext cx="166420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Relative motion of the occupant must be considered together with seat and restraint behavior.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487168"/>
            <a:ext cx="1993392" cy="24231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262432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Kinematics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36392" y="2935224"/>
            <a:ext cx="166420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Seat translation and seatback motion determine how geometry, restraints and contacts evolve during the event.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2487168"/>
            <a:ext cx="1993392" cy="24231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262432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Load path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2935224"/>
            <a:ext cx="166420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Forces and reactions must have identifiable paths through the seat structure into the vehicle interface.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2360" y="2487168"/>
            <a:ext cx="1993392" cy="24231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262432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Energy / load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16952" y="2935224"/>
            <a:ext cx="166420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The engineering question is how motion, force-time history and available stroke interact — not how to maximize force.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92640" y="2487168"/>
            <a:ext cx="1993392" cy="24231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262432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Structural 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57232" y="2935224"/>
            <a:ext cx="166420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Members, joints, interfaces and boundary conditions govern whether the intended response can physically occur.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30352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B667A"/>
                </a:solidFill>
              </a:rPr>
              <a:t>Why rear-seat motion deserves disciplined evaluation: the occupant, restraint, seat structure and vehicle interfaces form a coupled dynamic system, so a promising local feature is not enough to establish system behavior.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2179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</a:rPr>
              <a:t>Source basis: V6/V7 disclosure framing of occupant motion as coupled to seat + restraint + occupant, and explicit separation of architectural hypothesis from validated crash performance.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ENGINEERING RATIONALE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Why the problem matters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5074920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Occupant motion is time-dependent and configuration-dependent.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Seat motion can change restraint geometry and contact relationships during an event.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Structural response can alter the actual motion that the occupant experiences.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Any claimed improvement therefore needs a chain of evidence from geometry to dynamics to test correlation.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783080"/>
            <a:ext cx="5029200" cy="3520440"/>
          </a:xfrm>
          <a:prstGeom prst="roundRect">
            <a:avLst>
              <a:gd name="adj" fmla="val 1558"/>
            </a:avLst>
          </a:prstGeom>
          <a:solidFill>
            <a:srgbClr val="F7FA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36792" y="1920240"/>
            <a:ext cx="4700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the program must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36792" y="2231136"/>
            <a:ext cx="4700016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1. Can the intended motion occur without unintended interference?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2. Can the load paths be defined and instrumented?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3. Can component behavior be characterized independently?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4. Can the seat + restraint + occupant response be measured?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5. Can model predictions be correlated before any broader claim is made?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5358384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FEEFEF"/>
          </a:solidFill>
          <a:ln w="12700">
            <a:solidFill>
              <a:srgbClr val="FEEF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426964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2318"/>
                </a:solidFill>
              </a:rPr>
              <a:t>NO CLAIM OF PROVEN BENEFIT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29000" y="5394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The engineering case is: this is testable, falsifiable, and measurable — not yet proven.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62179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</a:rPr>
              <a:t>Source basis: V7 evidence discipline and validation gates; current baseline explicitly excludes crash-safety validation claims.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L1 FUNCTIONAL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T-OCS V7 functional concept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9456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Seat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505456"/>
            <a:ext cx="154533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supports the occupant and carries reactions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072384"/>
            <a:ext cx="283464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99232" y="205740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219456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Controlled motion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63824" y="2505456"/>
            <a:ext cx="154533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manages intended seat motion during a dynamic event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73752" y="3072384"/>
            <a:ext cx="283464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66944" y="205740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19456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Occupant interface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31536" y="2505456"/>
            <a:ext cx="154533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coordinates support / restraint interaction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41464" y="3072384"/>
            <a:ext cx="283464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34656" y="205740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219456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Event-dependent behavior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99248" y="2505456"/>
            <a:ext cx="154533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allows a staged response to be evaluated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9176" y="3072384"/>
            <a:ext cx="283464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02368" y="205740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1FFFC"/>
          </a:solidFill>
          <a:ln w="12700">
            <a:solidFill>
              <a:srgbClr val="B6E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19456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Measurement &amp; evidence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6960" y="2505456"/>
            <a:ext cx="154533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converts the concept into measurable engineering questions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</a:rPr>
              <a:t>L1 deliberately stops before proprietary mechanism disclosure.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A"/>
                </a:solidFill>
              </a:rPr>
              <a:t>No exact geometry • no CAD/STEP • no detailed force/energy assumptions • no patent-sensitive implementation details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System architecture — functional separation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20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Seat /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231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primary support + reaction path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920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Controlled longitudinal motion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8232" y="2231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ride-down function under defined conditions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063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Seatback motion control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3374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separate motion-control function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2926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063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Pelvic / occupant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3374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occupant positioning + support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206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Restraint 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4517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restraint continuity and routing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206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Event-state logic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28232" y="4517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state-dependent transition to be defined and validated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5212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5349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Rebound / post-event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5660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reverse-motion control to be tested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52120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9ED"/>
          </a:solidFill>
          <a:ln w="12700">
            <a:solidFill>
              <a:srgbClr val="EFC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53492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Vehicle interface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28232" y="5660136"/>
            <a:ext cx="4745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datum + hardpoints + BIW boundary — vehicle-specific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62179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</a:rPr>
              <a:t>Functional architecture only. Detailed implementation and exact part relationships are restricted beyond L1.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PROBLEM → HYPOTHESIS →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Why this approach is worth evaluating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879092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1792224"/>
            <a:ext cx="9875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192" y="1929384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2240280"/>
            <a:ext cx="95463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Dynamic occupant motion couples kinematics, load paths, energy management and structure.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2688336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7569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0" y="2670048"/>
            <a:ext cx="9875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6192" y="2807208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Design hypothesis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192" y="3118104"/>
            <a:ext cx="95463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Coordinated seat motion and occupant-support functions may create a measurable alternative response pathway.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356616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63474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3547872"/>
            <a:ext cx="9875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36192" y="3685032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Functional approach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3995928"/>
            <a:ext cx="95463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Separate the functions so each can be analyzed, measured and falsified.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" y="4443984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512564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71600" y="4425696"/>
            <a:ext cx="9875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4562856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Engineering rationale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36192" y="4873752"/>
            <a:ext cx="95463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 staged program reduces ambiguity: geometry → model → component behavior → dynamic test → correlation.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" y="53218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539038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71600" y="5303520"/>
            <a:ext cx="9875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5440680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Required evidence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36192" y="5751576"/>
            <a:ext cx="95463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Only repeatable measured or independently verified evidence can support performance conclusions.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WHAT WE WANT TO MEASURE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Intended controlled response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83080"/>
            <a:ext cx="33375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Motion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31136"/>
            <a:ext cx="3008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seat displacement / velocity / acceleration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53128" y="1783080"/>
            <a:ext cx="33375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Seatback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231136"/>
            <a:ext cx="3008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angle, angular rate, angular acceleration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56448" y="1783080"/>
            <a:ext cx="33375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92024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Load path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2231136"/>
            <a:ext cx="3008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left/right reactions and structural load transfer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3200400"/>
            <a:ext cx="33375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3756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Occupant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648456"/>
            <a:ext cx="3008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trajectory, pelvis/torso/head motion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3128" y="3200400"/>
            <a:ext cx="33375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33756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Restraint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3648456"/>
            <a:ext cx="3008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timing, routing, load history, continuity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6448" y="3200400"/>
            <a:ext cx="33375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33756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Component behavior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648456"/>
            <a:ext cx="3008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force–displacement, hysteresis, temperature, cycles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" y="4617720"/>
            <a:ext cx="33375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75488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Rebound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065776"/>
            <a:ext cx="3008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reverse velocity, damping / control, secondary excursion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5504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These are observables / evidence targets, not current T-OCS results.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62179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</a:rPr>
              <a:t>V6/V7 disclosure explicitly maps claims to later observables; current V7 evidence package does not establish physical measurements.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STAGED ENGINEERING PROGRAM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Development path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148840"/>
            <a:ext cx="16276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12984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Concept Closure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2889504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148840"/>
            <a:ext cx="16276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2286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2596896"/>
            <a:ext cx="12984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Simplified CAD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87952" y="2889504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62272" y="2148840"/>
            <a:ext cx="16276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286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6864" y="2596896"/>
            <a:ext cx="12984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FE / CAE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2889504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2148840"/>
            <a:ext cx="16276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286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28816" y="2596896"/>
            <a:ext cx="12984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Prototype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91856" y="2889504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66176" y="2148840"/>
            <a:ext cx="1627632" cy="1481328"/>
          </a:xfrm>
          <a:prstGeom prst="roundRect">
            <a:avLst>
              <a:gd name="adj" fmla="val 3704"/>
            </a:avLst>
          </a:prstGeom>
          <a:solidFill>
            <a:srgbClr val="F1FFFC"/>
          </a:solidFill>
          <a:ln w="12700">
            <a:solidFill>
              <a:srgbClr val="B6E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2286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30768" y="2596896"/>
            <a:ext cx="12984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Dynamic Test / Measurement / Correlation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93808" y="2889504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68128" y="2148840"/>
            <a:ext cx="16276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0" y="22860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0" y="2596896"/>
            <a:ext cx="12984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Phase-2 / Manufacturing / 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97280" y="4160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</a:rPr>
              <a:t>Gate principle: existence of a previous stage is not evidence of completion of the next stage.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983480"/>
            <a:ext cx="937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A"/>
                </a:solidFill>
              </a:rPr>
              <a:t>Each transition requires a defined artifact, owner, acceptance criterion, and evidence record.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CONTROLLED VS NOT YET PROVEN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Current engineering stage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303520" cy="3931920"/>
          </a:xfrm>
          <a:prstGeom prst="roundRect">
            <a:avLst>
              <a:gd name="adj" fmla="val 1395"/>
            </a:avLst>
          </a:prstGeom>
          <a:solidFill>
            <a:srgbClr val="F4FFFB"/>
          </a:solidFill>
          <a:ln w="12700">
            <a:solidFill>
              <a:srgbClr val="B6E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2024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CONTROLLED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2231136"/>
            <a:ext cx="4974336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Functional architecture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Engineering intent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Requirements / evidence framework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Engineering completion work order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Development path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Evidence-control discipline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Current reconstruction / model-level engineering information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03520" cy="3931920"/>
          </a:xfrm>
          <a:prstGeom prst="roundRect">
            <a:avLst>
              <a:gd name="adj" fmla="val 1395"/>
            </a:avLst>
          </a:prstGeom>
          <a:solidFill>
            <a:srgbClr val="FFF8F7"/>
          </a:solidFill>
          <a:ln w="12700">
            <a:solidFill>
              <a:srgbClr val="F3C1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92024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</a:rPr>
              <a:t>NOT YET PROVEN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82512" y="2231136"/>
            <a:ext cx="4974336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Physical validation / measurement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Final manufacturability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Final material closure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Final fastener / joint closure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Absorber characterization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Lock / rebound validation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Production readiness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• Crash / occupant-safety validation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62179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</a:rPr>
              <a:t>Current V7 baseline: research / engineering reconstruction; manufacturing release and safety validation are not established.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EVIDENCE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Existing evidence vs open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35640" cy="4389120"/>
        </p:xfrm>
        <a:graphic>
          <a:graphicData uri="http://schemas.openxmlformats.org/drawingml/2006/table">
            <a:tbl>
              <a:tblPr/>
              <a:tblGrid>
                <a:gridCol w="2788920"/>
                <a:gridCol w="1828800"/>
                <a:gridCol w="6217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Architecture / problem definition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AVAILABLE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V7/V6 disclosure + controlled architecture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Engineering definition framework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AVAILABLE / PARTIAL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requirements, interfaces, normalization controls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Model-level kinematics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AVAILABLE AS MODEL EVIDENCE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physical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component behavior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controlled tests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Vehicle datum / hardpoints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vehicle-specific input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Materials / fasteners / joints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controlled supplier / engineering evidence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Crash / sled / occupant results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ESTABLISHED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accepted T-OCS validation result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Manufacturing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ESTABLISHED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drawings / PMI / tolerances / process / inspection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3387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</a:rPr>
              <a:t>The meeting asks for evaluation of the program and prerequisites — not acceptance of an unverified safety claim.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" y="62179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</a:rPr>
              <a:t>Source basis: current V7 executive report + master completeness audit.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VALIDATION, NOT CLAIM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Intended validation path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920240"/>
            <a:ext cx="1627632" cy="196596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68296"/>
            <a:ext cx="129844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Geometry / packaging / motion definition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2898648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920240"/>
            <a:ext cx="1627632" cy="196596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2057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2368296"/>
            <a:ext cx="129844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MBD trajectories + motion evidence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87952" y="2898648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62272" y="1920240"/>
            <a:ext cx="1627632" cy="196596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057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6864" y="2368296"/>
            <a:ext cx="129844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Component characterization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2898648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1920240"/>
            <a:ext cx="1627632" cy="196596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057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28816" y="2368296"/>
            <a:ext cx="129844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State / lock / fault behavior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91856" y="2898648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66176" y="1920240"/>
            <a:ext cx="1627632" cy="1965960"/>
          </a:xfrm>
          <a:prstGeom prst="roundRect">
            <a:avLst>
              <a:gd name="adj" fmla="val 3371"/>
            </a:avLst>
          </a:prstGeom>
          <a:solidFill>
            <a:srgbClr val="FFF9ED"/>
          </a:solidFill>
          <a:ln w="12700">
            <a:solidFill>
              <a:srgbClr val="EFCB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2057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30768" y="2368296"/>
            <a:ext cx="129844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Dynamic sled / ATD evidence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93808" y="2898648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68128" y="1920240"/>
            <a:ext cx="1627632" cy="1965960"/>
          </a:xfrm>
          <a:prstGeom prst="roundRect">
            <a:avLst>
              <a:gd name="adj" fmla="val 3371"/>
            </a:avLst>
          </a:prstGeom>
          <a:solidFill>
            <a:srgbClr val="FFF9ED"/>
          </a:solidFill>
          <a:ln w="12700">
            <a:solidFill>
              <a:srgbClr val="EFC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0" y="2057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V5+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0" y="2368296"/>
            <a:ext cx="129844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FE / correlation / vehicle 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V6/V7 disclosures define this as an evidence ladder. The current package does not claim those later gates are completed.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QUALIFICATION, NOT COMMITMENT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Partnership models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32918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202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Paid Engineering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231136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Fixed deliverable / acceptance-based 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2918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9202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Deferred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5152" y="2231136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Commercially deferred work only if the party explicitly offers 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1783080"/>
            <a:ext cx="32918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9202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Co-development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48472" y="2231136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Shared scope, ownership, milestones and decision rights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264408"/>
            <a:ext cx="32918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4015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Sponsorship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" y="3712464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Only if explicitly offered and documented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264408"/>
            <a:ext cx="32918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4015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Investment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5152" y="3712464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Only if explicitly discussed through appropriate business/legal channels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No organization is represented here as a partner, client, sponsor, investor, or approved test provider unless the organization itself has documented that status.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ONE MEASURABLE ENGINEERING WORK PACKAGE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Proposed Phase-1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422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783080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Define and challenge the technical feasibility questions within the agreed company scope.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246888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3746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24963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Inputs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4963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L1 package + only the additional inputs explicitly required by the selected provider.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3182112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506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32095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3209544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Engineering analysis / test planning / feasibility review as agreed.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389534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639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39227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Outputs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3922776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Named artifacts, documented findings, unresolved dependencies, and engineering decision recommendation.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460857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7715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71600" y="46360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Acceptance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463600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Objective deliverable-based acceptance criterion agreed before start.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" y="5321808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3903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9FC"/>
                </a:solidFill>
              </a:rPr>
              <a:t>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0" y="53492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Boundary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23160" y="5349240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No promise to close the entire V7 gap universe; no automatic manufacturing or safety conclusion.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WHAT MUST COME OUT OF EACH SESSION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Technical Qualification Framework C1–C5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1993392" cy="25146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2276856"/>
            <a:ext cx="166420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Technical Scope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What can you actually do?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44368" y="1828800"/>
            <a:ext cx="1993392" cy="25146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276856"/>
            <a:ext cx="166420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Required Evidence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What evidence do you require?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02936" y="1828800"/>
            <a:ext cx="1993392" cy="25146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2276856"/>
            <a:ext cx="166420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Entry Criteria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What must exist before Phase-1 starts?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61504" y="1828800"/>
            <a:ext cx="1993392" cy="25146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6096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26096" y="2276856"/>
            <a:ext cx="166420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Commercial Structure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How can the work be contracted and accepted?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20072" y="1828800"/>
            <a:ext cx="1993392" cy="2514600"/>
          </a:xfrm>
          <a:prstGeom prst="roundRect">
            <a:avLst>
              <a:gd name="adj" fmla="val 2752"/>
            </a:avLst>
          </a:prstGeom>
          <a:solidFill>
            <a:srgbClr val="F1FFFC"/>
          </a:solidFill>
          <a:ln w="12700">
            <a:solidFill>
              <a:srgbClr val="B6E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84664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84664" y="2276856"/>
            <a:ext cx="166420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NDA Trigger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What is L1, what needs NDA, what stays restricted?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BFF"/>
                </a:solidFill>
              </a:rPr>
              <a:t>Close every meeting by converting answers into: Technical Owner → Next Action → Deadline.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Expected questions — controlled answer pattern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Every material answer uses: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86200" y="1737360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9352" y="1805940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KNOWN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715000" y="1737360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88152" y="1805940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6BFF"/>
                </a:solidFill>
              </a:rPr>
              <a:t>LIMITATION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543800" y="1737360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1805940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16207"/>
                </a:solidFill>
              </a:rPr>
              <a:t>EVIDENCE NEEDED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372600" y="1737360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45752" y="1805940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2318"/>
                </a:solidFill>
              </a:rPr>
              <a:t>NEXT ACTION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7240" y="2395728"/>
            <a:ext cx="10469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532888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exact problem does T-OCS solve?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" y="2843784"/>
            <a:ext cx="1014069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It targets coordinated control of occupant motion, seat motion and load transfer; it is not presented as a proven safety outcome.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054096"/>
            <a:ext cx="10469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191256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is proven today?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3502152"/>
            <a:ext cx="1014069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Architecture, engineering framework and model-level evidence exist; physical performance and safety validation are not established.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712464"/>
            <a:ext cx="10469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849624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Do you have native CAD?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" y="4160520"/>
            <a:ext cx="1014069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The current controlled external representation is STEP-based assessment geometry; no native CATIA V5 master is asserted in the available baseline.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370832"/>
            <a:ext cx="10469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507992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would make you abandon the concept?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4818888"/>
            <a:ext cx="1014069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 controlled falsification result showing the intended response cannot meet pre-agreed technical criteria.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5029200"/>
            <a:ext cx="10469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5166360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is the cheapest credible falsification path?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" y="5477256"/>
            <a:ext cx="10140696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 narrowly scoped, measurable engineering test that can discriminate the core hypothesis before broader investment.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RED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Adversarial questions — answer without hand-waving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20240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Why should we participate?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231136"/>
            <a:ext cx="10140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Because the program presents a bounded, testable technical question with explicit evidence gates — not because the outcome is assumed.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706624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is not proven?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3017520"/>
            <a:ext cx="10140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Physical validation, final manufacturability, material/joint closure, component characterization, crash performance and production readiness.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355848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FFF8F7"/>
          </a:solidFill>
          <a:ln w="12700">
            <a:solidFill>
              <a:srgbClr val="F3C1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493008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do you need from us?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3803904"/>
            <a:ext cx="10140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Only the scope-specific expertise, evidence or test capability that the provider explicitly agrees to supply.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142232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279392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What is the IP position?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" y="4590288"/>
            <a:ext cx="10140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L1 excludes proprietary mechanism and patent-sensitive detail; controlled disclosure is gated by NDA and project authority.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928616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5065776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How do we know this is not just paper engineering?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5376672"/>
            <a:ext cx="101406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By requiring falsifiable acceptance criteria, independent measurements and documented correlation before performance claims.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LIVE TECHNICAL WORK SESSION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Problem-solving workshop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9280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Requirement Conflict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203704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Conflict → competing interpretations → evidence needed → decision criteria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755648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89280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Packaging / Interface Conflict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8232" y="2203704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Observed interface issue → geometry ownership → vehicle dependency → test / 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80944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11810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Kinematic Feasibility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3429000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Motion intent → joint assumptions → clearance sweep → falsification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2980944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11810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Load / Energy Uncertainty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3429000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Unknown law → candidate models → component evidence → acceptance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20624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34340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Testability / Correlation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4654296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Unmeasurable quantity → instrumentation plan → model observables → correlation rule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46811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553669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WORKSHOP CLOSE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31720" y="55046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Problem → Hypotheses → Constraints → Alternatives → Evidence → Falsification → Decision Criteria → Owner → Deadline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CHANGE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Brainstorming + team-building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5166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6BFF"/>
                </a:solidFill>
              </a:rPr>
              <a:t>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Compatible Improvement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53288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60146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6BFF"/>
                </a:solidFill>
              </a:rPr>
              <a:t>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2569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Architecture Modification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28269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35127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6BFF"/>
                </a:solidFill>
              </a:rPr>
              <a:t>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Design-Intent Change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32504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1010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2318"/>
                </a:solidFill>
              </a:rPr>
              <a:t>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17320" y="4069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IP / Disclosure Conflict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49240" y="1737360"/>
            <a:ext cx="598932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13832" y="1874520"/>
            <a:ext cx="5660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Every new idea must become a controlled record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13832" y="2185416"/>
            <a:ext cx="56601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Idea → Technical Impact → Evidence → Decision → Owner → Deadline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One task = One accountable owner = One deadline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Any proposed geometry change stays PROPOSED until separately reviewed and authorized.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51389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No live brainstorming item becomes an authoritative V7 change by discussion alone.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THREE TECHNICAL ROUTES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Company-specific qualification paths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83080"/>
            <a:ext cx="356616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ARRK Engineering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31136"/>
            <a:ext cx="323697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Passive Safety → CAD / engineering closure → CAE / FE → prototype / test planning → acceptance criteria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Primary qualification output: technical scope, required inputs, deliverables, acceptance gate, and NDA trigger.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783080"/>
            <a:ext cx="356616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024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Calspan Automotive Test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231136"/>
            <a:ext cx="323697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Dynamic test → instrumentation → measurement → correlation → test preconditions → cost / schedule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Primary qualification output: candidate test scope, test article prerequisites, measurement outputs, quotation structure, and actual sponsorship / co-development availability if offered.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73568" y="1783080"/>
            <a:ext cx="356616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92024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Toyota Boshoku America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2231136"/>
            <a:ext cx="323697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Seat advanced development → technical fit → engineering contribution → co-development → milestones → NDA → internal technical owner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Primary qualification output: feasibility criteria, required inputs, milestone definition, NDA trigger, governance and next decision point.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621792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</a:rPr>
              <a:t>Organization-specific historical communications remain unverified where the referenced contact source is not available in the current runtime. Do not infer prior commitments.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6BFF"/>
                </a:solidFill>
              </a:rPr>
              <a:t>CREDIBILITY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Why trust the program process?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88136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28800"/>
            <a:ext cx="1993392" cy="20574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Controlled process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76856"/>
            <a:ext cx="166420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scope and change control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2852928"/>
            <a:ext cx="1828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828800"/>
            <a:ext cx="1993392" cy="20574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Transparent gaps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2276856"/>
            <a:ext cx="166420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unknowns are visible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9472" y="2852928"/>
            <a:ext cx="1828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93792" y="1828800"/>
            <a:ext cx="1993392" cy="20574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Defined evidence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58384" y="2276856"/>
            <a:ext cx="166420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claims require evidence classes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87184" y="2852928"/>
            <a:ext cx="1828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61504" y="1828800"/>
            <a:ext cx="1993392" cy="20574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Measurable milestones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6096" y="2276856"/>
            <a:ext cx="166420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deliverables and acceptance criteria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54896" y="2852928"/>
            <a:ext cx="1828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29216" y="1828800"/>
            <a:ext cx="1993392" cy="2057400"/>
          </a:xfrm>
          <a:prstGeom prst="roundRect">
            <a:avLst>
              <a:gd name="adj" fmla="val 2752"/>
            </a:avLst>
          </a:prstGeom>
          <a:solidFill>
            <a:srgbClr val="F1FFFC"/>
          </a:solidFill>
          <a:ln w="12700">
            <a:solidFill>
              <a:srgbClr val="B6E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93808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Independent 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93808" y="2276856"/>
            <a:ext cx="166420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67A"/>
                </a:solidFill>
              </a:rPr>
              <a:t>model ≠ measurement ≠ safety result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97280" y="44348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The ask is not “trust that the technology works.”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49834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FF"/>
                </a:solidFill>
              </a:rPr>
              <a:t>The ask is “evaluate whether the engineering program is rigorous enough to prove or falsify the hypothesis.”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C"/>
                </a:solidFill>
              </a:rPr>
              <a:t>DECISION / NEXT STEP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13898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DE"/>
                </a:solidFill>
              </a:rPr>
              <a:t>Close the meeting with one agreed engineering decision — or an explicit OPEN item.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1938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Technical Scope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50008" y="2103120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1928" y="1938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Required Evidence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882128" y="2103120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71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Entry Criteria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0008" y="3035808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2871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NDA 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82128" y="3035808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03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Next Action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50008" y="3968496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3803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Owner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82128" y="3968496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736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Deadline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50008" y="4901184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4736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B3A3"/>
                </a:solidFill>
              </a:rPr>
              <a:t>Next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82128" y="4901184"/>
            <a:ext cx="3657600" cy="0"/>
          </a:xfrm>
          <a:prstGeom prst="line">
            <a:avLst/>
          </a:prstGeom>
          <a:noFill/>
          <a:ln w="12700">
            <a:solidFill>
              <a:srgbClr val="6B7A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70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5B0"/>
                </a:solidFill>
              </a:rPr>
              <a:t>STOP CONDITION: If a field cannot be supported by the meeting record, mark UNKNOWN / OPEN / PENDING HUMAN RESPONSE.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T-OCS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T-OCS V7.0 REVISION-2 — NON-CONFIDENTIAL CORPORATE TECHNICAL &amp; TECHNICAL-QUALIFICATION PRESENTATION</dc:title>
  <dc:subject>Non-Confidential Corporate Technical &amp; Technical-Qualification Meeting System</dc:subject>
  <dc:creator>JON_CHATGPT</dc:creator>
  <cp:lastModifiedBy>JON_CHATGPT</cp:lastModifiedBy>
  <cp:revision>1</cp:revision>
  <dcterms:created xsi:type="dcterms:W3CDTF">2026-09-22T17:15:15Z</dcterms:created>
  <dcterms:modified xsi:type="dcterms:W3CDTF">2026-09-22T17:15:15Z</dcterms:modified>
</cp:coreProperties>
</file>