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Naif
Purpose: Open meeting and state objective.
Key Message: A testable engineering hypothesis, not a proven product.
Evidence Basis: V7/V6 disclosure.
Expected Question: What are we deciding today?
Safe Answer Boundary: No technical implementation detail.
Forbidden Disclosure: Proprietary mechanism; exact dimensions; CAD/STEP; detailed force/energy assumptions; internal audits/gaps; confidential third-party information.
Handoff: Naif → John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Naif
Purpose: Define meeting decision.
Key Message: Determine fit, evidence needs, entry criteria, NDA and next action.
Evidence Basis: Meeting system.
Expected Question: What would make this meeting useful?
Safe Answer Boundary: No commitments inferred.
Forbidden Disclosure: Proprietary mechanism; exact dimensions; CAD/STEP; detailed force/energy assumptions; internal audits/gaps; confidential third-party information.
Handoff: Naif → John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John
Purpose: Explain problem without marketing.
Key Message: Rear-seat occupant motion is a coupled system problem.
Evidence Basis: V6/V7 disclosure.
Expected Question: What exactly is coupled?
Safe Answer Boundary: No proprietary mechanism or exact values.
Forbidden Disclosure: Proprietary mechanism; exact dimensions; CAD/STEP; detailed force/energy assumptions; internal audits/gaps; confidential third-party information.
Handoff: John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John
Purpose: Show interactions.
Key Message: Occupant ↔ seat kinematics ↔ restraint ↔ structure ↔ vehicle boundary ↔ timing.
Evidence Basis: V6/V7 system framing.
Expected Question: Where do trade-offs appear?
Safe Answer Boundary: No vehicle-specific geometry.
Forbidden Disclosure: Proprietary mechanism; exact dimensions; CAD/STEP; detailed force/energy assumptions; internal audits/gaps; confidential third-party information.
Handoff: John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John
Purpose: Explain coupling risks.
Key Message: A local optimization can move the problem elsewhere.
Evidence Basis: Engineering reasoning + V7 framing.
Expected Question: How is a trade-off tested?
Safe Answer Boundary: No performance claim.
Forbidden Disclosure: Proprietary mechanism; exact dimensions; CAD/STEP; detailed force/energy assumptions; internal audits/gaps; confidential third-party information.
Handoff: John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John
Purpose: Explain derivation logic while separating chronology.
Key Message: Problem → Constraint → Question → Hypothesis → Function → Evidence.
Evidence Basis: V7/V6 + explicit project logic.
Expected Question: Which steps are historical vs reconstructed?
Safe Answer Boundary: Historical chronology not established.
Forbidden Disclosure: Proprietary mechanism; exact dimensions; CAD/STEP; detailed force/energy assumptions; internal audits/gaps; confidential third-party information.
Handoff: John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John
Purpose: Explain what T-OCS does at L1.
Key Message: Coordinate seat motion, seatback motion, occupant interaction and load paths.
Evidence Basis: V7 disclosure.
Expected Question: What is the functional core?
Safe Answer Boundary: No proprietary implementation.
Forbidden Disclosure: Proprietary mechanism; exact dimensions; CAD/STEP; detailed force/energy assumptions; internal audits/gaps; confidential third-party information.
Handoff: John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John
Purpose: Show the architecture as functions.
Key Message: Motion management + occupant interface + load paths + event states + rebound.
Evidence Basis: V7/V6 disclosure.
Expected Question: How are functions separated?
Safe Answer Boundary: No exact dimensions/forces.
Forbidden Disclosure: Proprietary mechanism; exact dimensions; CAD/STEP; detailed force/energy assumptions; internal audits/gaps; confidential third-party information.
Handoff: John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John
Purpose: Explain expected response sequence.
Key Message: System behavior is intended to be state-dependent and measurable.
Evidence Basis: Canonical state vocabulary.
Expected Question: What is actually validated?
Safe Answer Boundary: State labels are design/model framing; not physical validation.
Forbidden Disclosure: Proprietary mechanism; exact dimensions; CAD/STEP; detailed force/energy assumptions; internal audits/gaps; confidential third-party information.
Handoff: John → Naif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John
Purpose: Make the evaluation case without superiority.
Key Message: Problem relevance + testability + bounded evidence path.
Evidence Basis: V7 engineering rationale.
Expected Question: Why evaluate this?
Safe Answer Boundary: No “best” or “guaranteed” language.
Forbidden Disclosure: Proprietary mechanism; exact dimensions; CAD/STEP; detailed force/energy assumptions; internal audits/gaps; confidential third-party information.
Handoff: John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John
Purpose: Define observables.
Key Message: Motion, structural reactions, load transfer, restraint interaction, component behavior, rebound.
Evidence Basis: V6/V7 validation observables.
Expected Question: Which observables matter most?
Safe Answer Boundary: Targets only; not current results.
Forbidden Disclosure: Proprietary mechanism; exact dimensions; CAD/STEP; detailed force/energy assumptions; internal audits/gaps; confidential third-party information.
Handoff: John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John
Purpose: State maturity precisely.
Key Message: Controlled reconstruction / engineering baseline; not manufacturing or safety validation.
Evidence Basis: V7 baseline + validation matrix.
Expected Question: What exists today?
Safe Answer Boundary: No production or crash claim.
Forbidden Disclosure: Proprietary mechanism; exact dimensions; CAD/STEP; detailed force/energy assumptions; internal audits/gaps; confidential third-party information.
Handoff: John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John
Purpose: Separate evidence classes.
Key Message: Source-derived / design intent / model-level / physical / unknown.
Evidence Basis: V7/V6 + validation matrix.
Expected Question: Which evidence class supports this?
Safe Answer Boundary: Do not merge classes.
Forbidden Disclosure: Proprietary mechanism; exact dimensions; CAD/STEP; detailed force/energy assumptions; internal audits/gaps; confidential third-party information.
Handoff: John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John
Purpose: Expose what remains.
Key Message: Vehicle inputs, materials/joints, physical behavior, manufacturing definition, validation.
Evidence Basis: Canonical readiness + V7 gap layers.
Expected Question: What blocks the next gate?
Safe Answer Boundary: Internal exact gap files are not disclosed.
Forbidden Disclosure: Proprietary mechanism; exact dimensions; CAD/STEP; detailed force/energy assumptions; internal audits/gaps; confidential third-party information.
Handoff: John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John
Purpose: Show staged gate model.
Key Message: Concept → model → CAE → prototype → dynamic test → correlation → validation.
Evidence Basis: V7/V6 gates.
Expected Question: What is required before testing?
Safe Answer Boundary: Proposed path vs completed work distinguished.
Forbidden Disclosure: Proprietary mechanism; exact dimensions; CAD/STEP; detailed force/energy assumptions; internal audits/gaps; confidential third-party information.
Handoff: John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John
Purpose: Show how a company could enter.
Key Message: Evaluate → scoped engineering → evidence → development → manufacturing/validation.
Evidence Basis: Proposed development path.
Expected Question: Where can we enter?
Safe Answer Boundary: No commitment inferred.
Forbidden Disclosure: Proprietary mechanism; exact dimensions; CAD/STEP; detailed force/energy assumptions; internal audits/gaps; confidential third-party information.
Handoff: John → Naif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Naif
Purpose: Discuss possible commercial forms without assuming one.
Key Message: Paid engineering, test services, co-development, research, sponsorship/investment as possible structures.
Evidence Basis: Qualification framework.
Expected Question: What structure do you actually support?
Safe Answer Boundary: No promise of any structure.
Forbidden Disclosure: Proprietary mechanism; exact dimensions; CAD/STEP; detailed force/energy assumptions; internal audits/gaps; confidential third-party information.
Handoff: Naif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John
Purpose: Offer one bounded technical result.
Key Message: Minimum credible engineering assessment with defined inputs, outputs and acceptance.
Evidence Basis: Meeting system + project evidence discipline.
Expected Question: What is the minimum useful scope?
Safe Answer Boundary: No promise to close all gaps.
Forbidden Disclosure: Proprietary mechanism; exact dimensions; CAD/STEP; detailed force/energy assumptions; internal audits/gaps; confidential third-party information.
Handoff: John → Naif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John
Purpose: Begin qualification.
Key Message: C1 Scope → C2 Evidence → C3 Entry → C4 Commercial → C5 NDA.
Evidence Basis: Qualification framework.
Expected Question: Which C can we answer today?
Safe Answer Boundary: Do not infer answers.
Forbidden Disclosure: Proprietary mechanism; exact dimensions; CAD/STEP; detailed force/energy assumptions; internal audits/gaps; confidential third-party information.
Handoff: John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John
Purpose: Show tailored entry points.
Key Message: ARRK: Passive Safety/CAE; Calspan: Test/Measurement; TBA: Advanced Development.
Evidence Basis: Current outreach record + company-specific questions.
Expected Question: What is your capability fit?
Safe Answer Boundary: No partner/customer claim.
Forbidden Disclosure: Proprietary mechanism; exact dimensions; CAD/STEP; detailed force/energy assumptions; internal audits/gaps; confidential third-party information.
Handoff: John → Company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John
Purpose: Prepare factual answers.
Key Message: KNOWN → LIMITATION → EVIDENCE NEEDED → NEXT ACTION.
Evidence Basis: Controlled Q&amp;A set.
Expected Question: What about CAD, data, validation, IP?
Safe Answer Boundary: L1 boundary stays intact.
Forbidden Disclosure: Proprietary mechanism; exact dimensions; CAD/STEP; detailed force/energy assumptions; internal audits/gaps; confidential third-party information.
Handoff: John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John
Purpose: Invite technical skepticism.
Key Message: Ask what could kill the hypothesis cheaply and credibly.
Evidence Basis: Falsification rule + validation path.
Expected Question: What would make us stop?
Safe Answer Boundary: No invented kill thresholds.
Forbidden Disclosure: Proprietary mechanism; exact dimensions; CAD/STEP; detailed force/energy assumptions; internal audits/gaps; confidential third-party information.
Handoff: John → Company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John
Purpose: Handle real technical disagreements.
Key Message: Problem → hypotheses → constraints → alternatives → evidence → falsification → decision.
Evidence Basis: Workshop framework.
Expected Question: Which issue should we solve first?
Safe Answer Boundary: No silent reconciliation.
Forbidden Disclosure: Proprietary mechanism; exact dimensions; CAD/STEP; detailed force/energy assumptions; internal audits/gaps; confidential third-party information.
Handoff: John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John
Purpose: Prevent meeting ideas from corrupting baseline.
Key Message: Ideas are classified A/B/C/D and stay non-authoritative until gated.
Evidence Basis: Change-control rule.
Expected Question: Is this compatible or a redesign?
Safe Answer Boundary: No V7 change by meeting discussion.
Forbidden Disclosure: Proprietary mechanism; exact dimensions; CAD/STEP; detailed force/energy assumptions; internal audits/gaps; confidential third-party information.
Handoff: John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Naif
Purpose: Assign ownership.
Key Message: One task = one owner = one deadline.
Evidence Basis: Team/action logs.
Expected Question: Who owns the next step?
Safe Answer Boundary: No action without evidence criterion.
Forbidden Disclosure: Proprietary mechanism; exact dimensions; CAD/STEP; detailed force/energy assumptions; internal audits/gaps; confidential third-party information.
Handoff: Naif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John
Purpose: Close credibility argument.
Key Message: Transparent process beats unsupported product claims.
Evidence Basis: Evidence discipline + independent review.
Expected Question: Why should we trust the program?
Safe Answer Boundary: No claim that technology works.
Forbidden Disclosure: Proprietary mechanism; exact dimensions; CAD/STEP; detailed force/energy assumptions; internal audits/gaps; confidential third-party information.
Handoff: John → Naif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Naif
Purpose: Close with measurable commitment or explicit no-go.
Key Message: Scope, evidence, entry, NDA, action, owner, deadline, next review.
Evidence Basis: Meeting conversion procedure.
Expected Question: What exactly happens next?
Safe Answer Boundary: No open-ended scope.
Forbidden Disclosure: Proprietary mechanism; exact dimensions; CAD/STEP; detailed force/energy assumptions; internal audits/gaps; confidential third-party information.
Handoff: Naif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6473952"/>
            <a:ext cx="10972800" cy="0"/>
          </a:xfrm>
          <a:prstGeom prst="line">
            <a:avLst/>
          </a:prstGeom>
          <a:noFill/>
          <a:ln w="10160">
            <a:solidFill>
              <a:srgbClr val="D5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12648" y="6519672"/>
            <a:ext cx="8138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T-OCS V7.0 REVISION-2  |  L1 NON-CONFIDENTIAL  |  NO PERFORMANCE CLAIMS</a:t>
            </a:r>
            <a:endParaRPr lang="en-US" sz="680" dirty="0"/>
          </a:p>
        </p:txBody>
      </p:sp>
      <p:sp>
        <p:nvSpPr>
          <p:cNvPr id="5" name="Text 3"/>
          <p:cNvSpPr/>
          <p:nvPr/>
        </p:nvSpPr>
        <p:spPr>
          <a:xfrm>
            <a:off x="8366760" y="6519672"/>
            <a:ext cx="3200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JON builds  •  Peter red-teams  •  Naif decides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4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74980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T-OCS V7.0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" y="116128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FE7E4"/>
                </a:solidFill>
              </a:rPr>
              <a:t>REVISION-2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755648"/>
            <a:ext cx="6949440" cy="11430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NON-CONFIDENTIAL CORPORATE TECHNICAL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&amp; TECHNICAL-QUALIFICATION PRESENTATION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13232" y="315468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D9E3EF"/>
                </a:solidFill>
              </a:rPr>
              <a:t>A technical discussion designed to determine whether the engineering hypothesis merits a bounded evaluation program.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211312" y="1051560"/>
            <a:ext cx="3273552" cy="1216152"/>
          </a:xfrm>
          <a:prstGeom prst="roundRect">
            <a:avLst>
              <a:gd name="adj" fmla="val 6015"/>
            </a:avLst>
          </a:prstGeom>
          <a:solidFill>
            <a:srgbClr val="102F56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11312" y="1051560"/>
            <a:ext cx="64008" cy="1216152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75904" y="116128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2447"/>
                </a:solidFill>
              </a:rPr>
              <a:t>Meeting outcome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375904" y="1481328"/>
            <a:ext cx="3017520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83247"/>
                </a:solidFill>
              </a:rPr>
              <a:t>Technical scope • required evidence • entry criteria • NDA • next action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211312" y="2514600"/>
            <a:ext cx="3273552" cy="1216152"/>
          </a:xfrm>
          <a:prstGeom prst="roundRect">
            <a:avLst>
              <a:gd name="adj" fmla="val 6015"/>
            </a:avLst>
          </a:prstGeom>
          <a:solidFill>
            <a:srgbClr val="102F56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11312" y="2514600"/>
            <a:ext cx="64008" cy="1216152"/>
          </a:xfrm>
          <a:prstGeom prst="rect">
            <a:avLst/>
          </a:prstGeom>
          <a:solidFill>
            <a:srgbClr val="7CCBC6"/>
          </a:solidFill>
          <a:ln w="12700">
            <a:solidFill>
              <a:srgbClr val="7CCBC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75904" y="262432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2447"/>
                </a:solidFill>
              </a:rPr>
              <a:t>Engineering stance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375904" y="2944368"/>
            <a:ext cx="3017520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83247"/>
                </a:solidFill>
              </a:rPr>
              <a:t>Hypothesis, not product claim. Evidence before commitment.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13232" y="5321808"/>
            <a:ext cx="1691640" cy="292608"/>
          </a:xfrm>
          <a:prstGeom prst="roundRect">
            <a:avLst>
              <a:gd name="adj" fmla="val 25000"/>
            </a:avLst>
          </a:prstGeom>
          <a:solidFill>
            <a:srgbClr val="264A71"/>
          </a:solidFill>
          <a:ln w="12700">
            <a:solidFill>
              <a:srgbClr val="264A7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6384" y="5381244"/>
            <a:ext cx="1545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L1 NON-CONFIDENTIAL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2542032" y="5321808"/>
            <a:ext cx="1810512" cy="292608"/>
          </a:xfrm>
          <a:prstGeom prst="roundRect">
            <a:avLst>
              <a:gd name="adj" fmla="val 25000"/>
            </a:avLst>
          </a:prstGeom>
          <a:solidFill>
            <a:srgbClr val="264A71"/>
          </a:solidFill>
          <a:ln w="12700">
            <a:solidFill>
              <a:srgbClr val="264A7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15184" y="5381244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NO PERFORMANCE CLAIMS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4498848" y="5321808"/>
            <a:ext cx="1965960" cy="292608"/>
          </a:xfrm>
          <a:prstGeom prst="roundRect">
            <a:avLst>
              <a:gd name="adj" fmla="val 25000"/>
            </a:avLst>
          </a:prstGeom>
          <a:solidFill>
            <a:srgbClr val="264A71"/>
          </a:solidFill>
          <a:ln w="12700">
            <a:solidFill>
              <a:srgbClr val="264A7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0" y="5381244"/>
            <a:ext cx="1819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CONTROLLED DISCLOSURE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8183880" y="5413248"/>
            <a:ext cx="3273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FE7E4"/>
                </a:solidFill>
              </a:rPr>
              <a:t>John builds  •  Peter red-teams  •  Naif decides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38404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7A75"/>
                </a:solidFill>
              </a:rPr>
              <a:t>MEETING OBJECTIVE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12648" y="621792"/>
            <a:ext cx="10835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447"/>
                </a:solidFill>
              </a:rPr>
              <a:t>What this meeting must produce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30936" y="1207008"/>
            <a:ext cx="10561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25466"/>
                </a:solidFill>
              </a:rPr>
              <a:t>The meeting is successful only if the next engineering step becomes measurable.</a:t>
            </a:r>
            <a:endParaRPr lang="en-US" sz="1080" dirty="0"/>
          </a:p>
        </p:txBody>
      </p:sp>
      <p:sp>
        <p:nvSpPr>
          <p:cNvPr id="5" name="Shape 3"/>
          <p:cNvSpPr/>
          <p:nvPr/>
        </p:nvSpPr>
        <p:spPr>
          <a:xfrm>
            <a:off x="658368" y="1783080"/>
            <a:ext cx="6583680" cy="704088"/>
          </a:xfrm>
          <a:prstGeom prst="roundRect">
            <a:avLst>
              <a:gd name="adj" fmla="val 10390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783080"/>
            <a:ext cx="64008" cy="704088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892808"/>
            <a:ext cx="6327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2447"/>
                </a:solidFill>
              </a:rPr>
              <a:t>Technical Scope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212848"/>
            <a:ext cx="6327648" cy="1920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83247"/>
                </a:solidFill>
              </a:rPr>
              <a:t>What exact work can the organization perform?</a:t>
            </a:r>
            <a:endParaRPr lang="en-US" sz="930" dirty="0"/>
          </a:p>
        </p:txBody>
      </p:sp>
      <p:sp>
        <p:nvSpPr>
          <p:cNvPr id="9" name="Text 7"/>
          <p:cNvSpPr/>
          <p:nvPr/>
        </p:nvSpPr>
        <p:spPr>
          <a:xfrm>
            <a:off x="7543800" y="1883664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7A75"/>
                </a:solidFill>
              </a:rPr>
              <a:t>1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58368" y="2624328"/>
            <a:ext cx="6583680" cy="704088"/>
          </a:xfrm>
          <a:prstGeom prst="roundRect">
            <a:avLst>
              <a:gd name="adj" fmla="val 10390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2624328"/>
            <a:ext cx="64008" cy="704088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734056"/>
            <a:ext cx="6327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2447"/>
                </a:solidFill>
              </a:rPr>
              <a:t>Required Evidence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3054096"/>
            <a:ext cx="6327648" cy="1920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83247"/>
                </a:solidFill>
              </a:rPr>
              <a:t>What must be available before that work starts?</a:t>
            </a:r>
            <a:endParaRPr lang="en-US" sz="930" dirty="0"/>
          </a:p>
        </p:txBody>
      </p:sp>
      <p:sp>
        <p:nvSpPr>
          <p:cNvPr id="14" name="Text 12"/>
          <p:cNvSpPr/>
          <p:nvPr/>
        </p:nvSpPr>
        <p:spPr>
          <a:xfrm>
            <a:off x="7543800" y="272491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7A75"/>
                </a:solidFill>
              </a:rPr>
              <a:t>2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58368" y="3465576"/>
            <a:ext cx="6583680" cy="704088"/>
          </a:xfrm>
          <a:prstGeom prst="roundRect">
            <a:avLst>
              <a:gd name="adj" fmla="val 10390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" y="3465576"/>
            <a:ext cx="64008" cy="704088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575304"/>
            <a:ext cx="6327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2447"/>
                </a:solidFill>
              </a:rPr>
              <a:t>Entry Criteria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3895344"/>
            <a:ext cx="6327648" cy="1920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83247"/>
                </a:solidFill>
              </a:rPr>
              <a:t>What conditions must be true for Phase-1?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>
            <a:off x="7543800" y="356616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7A75"/>
                </a:solidFill>
              </a:rPr>
              <a:t>3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58368" y="4306824"/>
            <a:ext cx="6583680" cy="704088"/>
          </a:xfrm>
          <a:prstGeom prst="roundRect">
            <a:avLst>
              <a:gd name="adj" fmla="val 10390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8368" y="4306824"/>
            <a:ext cx="64008" cy="704088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4416552"/>
            <a:ext cx="6327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2447"/>
                </a:solidFill>
              </a:rPr>
              <a:t>NDA + Commercial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22960" y="4736592"/>
            <a:ext cx="6327648" cy="1920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83247"/>
                </a:solidFill>
              </a:rPr>
              <a:t>What can be shared, and under what commercial structure?</a:t>
            </a:r>
            <a:endParaRPr lang="en-US" sz="930" dirty="0"/>
          </a:p>
        </p:txBody>
      </p:sp>
      <p:sp>
        <p:nvSpPr>
          <p:cNvPr id="24" name="Text 22"/>
          <p:cNvSpPr/>
          <p:nvPr/>
        </p:nvSpPr>
        <p:spPr>
          <a:xfrm>
            <a:off x="7543800" y="440740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7A75"/>
                </a:solidFill>
              </a:rPr>
              <a:t>4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658368" y="5148072"/>
            <a:ext cx="6583680" cy="704088"/>
          </a:xfrm>
          <a:prstGeom prst="roundRect">
            <a:avLst>
              <a:gd name="adj" fmla="val 10390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368" y="5148072"/>
            <a:ext cx="64008" cy="704088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5257800"/>
            <a:ext cx="6327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2447"/>
                </a:solidFill>
              </a:rPr>
              <a:t>Next Action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2960" y="5577840"/>
            <a:ext cx="6327648" cy="1920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83247"/>
                </a:solidFill>
              </a:rPr>
              <a:t>Who does what, by when, with what evidence?</a:t>
            </a:r>
            <a:endParaRPr lang="en-US" sz="930" dirty="0"/>
          </a:p>
        </p:txBody>
      </p:sp>
      <p:sp>
        <p:nvSpPr>
          <p:cNvPr id="29" name="Text 27"/>
          <p:cNvSpPr/>
          <p:nvPr/>
        </p:nvSpPr>
        <p:spPr>
          <a:xfrm>
            <a:off x="7543800" y="524865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7A75"/>
                </a:solidFill>
              </a:rPr>
              <a:t>5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8229600" y="1874520"/>
            <a:ext cx="324612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29600" y="1874520"/>
            <a:ext cx="64008" cy="2331720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94192" y="1984248"/>
            <a:ext cx="2990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2447"/>
                </a:solidFill>
              </a:rPr>
              <a:t>Close the loop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394192" y="2304288"/>
            <a:ext cx="2990088" cy="1819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83247"/>
                </a:solidFill>
              </a:rPr>
              <a:t>Meeting result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83247"/>
                </a:solidFill>
              </a:rPr>
              <a:t>→ Engineering action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83247"/>
                </a:solidFill>
              </a:rPr>
              <a:t>→ Deliverable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83247"/>
                </a:solidFill>
              </a:rPr>
              <a:t>→ Acceptance criterion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83247"/>
                </a:solidFill>
              </a:rPr>
              <a:t>→ Owner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83247"/>
                </a:solidFill>
              </a:rPr>
              <a:t>→ Deadline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229600" y="4526280"/>
            <a:ext cx="3246120" cy="777240"/>
          </a:xfrm>
          <a:prstGeom prst="roundRect">
            <a:avLst>
              <a:gd name="adj" fmla="val 9412"/>
            </a:avLst>
          </a:prstGeom>
          <a:solidFill>
            <a:srgbClr val="FFF6D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229600" y="4526280"/>
            <a:ext cx="64008" cy="777240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394192" y="4636008"/>
            <a:ext cx="2990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2447"/>
                </a:solidFill>
              </a:rPr>
              <a:t>Hard stop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394192" y="4956048"/>
            <a:ext cx="2990088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83247"/>
                </a:solidFill>
              </a:rPr>
              <a:t>No unresolved technical thread becomes a hidden commitment.</a:t>
            </a:r>
            <a:endParaRPr lang="en-US" sz="8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38404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7A75"/>
                </a:solidFill>
              </a:rPr>
              <a:t>ENGINEERING PROBLEM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12648" y="621792"/>
            <a:ext cx="10835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447"/>
                </a:solidFill>
              </a:rPr>
              <a:t>The problem is coupled — not a single “rear-seat motion” metric.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30936" y="1207008"/>
            <a:ext cx="10561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25466"/>
                </a:solidFill>
              </a:rPr>
              <a:t>T-OCS studies how seat, occupant, restraint, structure and vehicle boundary interact in a dynamic event.</a:t>
            </a:r>
            <a:endParaRPr lang="en-US" sz="1080" dirty="0"/>
          </a:p>
        </p:txBody>
      </p:sp>
      <p:sp>
        <p:nvSpPr>
          <p:cNvPr id="5" name="Shape 3"/>
          <p:cNvSpPr/>
          <p:nvPr/>
        </p:nvSpPr>
        <p:spPr>
          <a:xfrm>
            <a:off x="658368" y="1993392"/>
            <a:ext cx="11430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993392"/>
            <a:ext cx="64008" cy="1143000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103120"/>
            <a:ext cx="886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0B2447"/>
                </a:solidFill>
              </a:rPr>
              <a:t>OCCUPANT</a:t>
            </a:r>
            <a:endParaRPr lang="en-US" sz="980" dirty="0"/>
          </a:p>
        </p:txBody>
      </p:sp>
      <p:sp>
        <p:nvSpPr>
          <p:cNvPr id="8" name="Text 6"/>
          <p:cNvSpPr/>
          <p:nvPr/>
        </p:nvSpPr>
        <p:spPr>
          <a:xfrm>
            <a:off x="822960" y="2423160"/>
            <a:ext cx="886968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83247"/>
                </a:solidFill>
              </a:rPr>
              <a:t>trajectory + posture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084832" y="1993392"/>
            <a:ext cx="14173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84832" y="1993392"/>
            <a:ext cx="64008" cy="1143000"/>
          </a:xfrm>
          <a:prstGeom prst="rect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49424" y="2103120"/>
            <a:ext cx="1161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0B2447"/>
                </a:solidFill>
              </a:rPr>
              <a:t>SEAT</a:t>
            </a:r>
            <a:endParaRPr lang="en-US" sz="980" dirty="0"/>
          </a:p>
        </p:txBody>
      </p:sp>
      <p:sp>
        <p:nvSpPr>
          <p:cNvPr id="12" name="Text 10"/>
          <p:cNvSpPr/>
          <p:nvPr/>
        </p:nvSpPr>
        <p:spPr>
          <a:xfrm>
            <a:off x="2249424" y="2423160"/>
            <a:ext cx="1161288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83247"/>
                </a:solidFill>
              </a:rPr>
              <a:t>motion + support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160520" y="1783080"/>
            <a:ext cx="233172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60520" y="1783080"/>
            <a:ext cx="64008" cy="932688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25112" y="1892808"/>
            <a:ext cx="2075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2447"/>
                </a:solidFill>
              </a:rPr>
              <a:t>Occupant motion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325112" y="2212848"/>
            <a:ext cx="207568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83247"/>
                </a:solidFill>
              </a:rPr>
              <a:t>Trajectory, posture, relative motion, contact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160520" y="2834640"/>
            <a:ext cx="233172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60520" y="2834640"/>
            <a:ext cx="64008" cy="932688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25112" y="2944368"/>
            <a:ext cx="2075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2447"/>
                </a:solidFill>
              </a:rPr>
              <a:t>Seat kinematics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325112" y="3264408"/>
            <a:ext cx="207568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83247"/>
                </a:solidFill>
              </a:rPr>
              <a:t>Translation + seatback motion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160520" y="3886200"/>
            <a:ext cx="233172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60520" y="3886200"/>
            <a:ext cx="64008" cy="932688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25112" y="3995928"/>
            <a:ext cx="2075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2447"/>
                </a:solidFill>
              </a:rPr>
              <a:t>Restraint interaction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325112" y="4315968"/>
            <a:ext cx="207568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83247"/>
                </a:solidFill>
              </a:rPr>
              <a:t>Geometry + timing + load transfer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720840" y="1783080"/>
            <a:ext cx="233172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20840" y="1783080"/>
            <a:ext cx="64008" cy="932688"/>
          </a:xfrm>
          <a:prstGeom prst="rect">
            <a:avLst/>
          </a:prstGeom>
          <a:solidFill>
            <a:srgbClr val="B23A3A"/>
          </a:solidFill>
          <a:ln w="12700">
            <a:solidFill>
              <a:srgbClr val="B23A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85432" y="1892808"/>
            <a:ext cx="2075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2447"/>
                </a:solidFill>
              </a:rPr>
              <a:t>Structural response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885432" y="2212848"/>
            <a:ext cx="207568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83247"/>
                </a:solidFill>
              </a:rPr>
              <a:t>Sections + joints + compliance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720840" y="2834640"/>
            <a:ext cx="233172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720840" y="2834640"/>
            <a:ext cx="64008" cy="932688"/>
          </a:xfrm>
          <a:prstGeom prst="rect">
            <a:avLst/>
          </a:prstGeom>
          <a:solidFill>
            <a:srgbClr val="425466"/>
          </a:solidFill>
          <a:ln w="12700">
            <a:solidFill>
              <a:srgbClr val="42546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85432" y="2944368"/>
            <a:ext cx="2075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2447"/>
                </a:solidFill>
              </a:rPr>
              <a:t>Vehicle boundary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885432" y="3264408"/>
            <a:ext cx="207568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83247"/>
                </a:solidFill>
              </a:rPr>
              <a:t>Datum + hardpoints + BIW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720840" y="3886200"/>
            <a:ext cx="233172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720840" y="3886200"/>
            <a:ext cx="64008" cy="932688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85432" y="3995928"/>
            <a:ext cx="2075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2447"/>
                </a:solidFill>
              </a:rPr>
              <a:t>Event timing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885432" y="4315968"/>
            <a:ext cx="207568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83247"/>
                </a:solidFill>
              </a:rPr>
              <a:t>State transition + rebound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584448" y="2606040"/>
            <a:ext cx="484632" cy="-338328"/>
          </a:xfrm>
          <a:prstGeom prst="line">
            <a:avLst/>
          </a:prstGeom>
          <a:noFill/>
          <a:ln w="20320">
            <a:solidFill>
              <a:srgbClr val="1E5AA8"/>
            </a:solidFill>
            <a:prstDash val="solid"/>
            <a:headEnd type="none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3584448" y="2971800"/>
            <a:ext cx="484632" cy="301752"/>
          </a:xfrm>
          <a:prstGeom prst="line">
            <a:avLst/>
          </a:prstGeom>
          <a:noFill/>
          <a:ln w="20320">
            <a:solidFill>
              <a:srgbClr val="1E5AA8"/>
            </a:solidFill>
            <a:prstDash val="solid"/>
            <a:headEnd type="none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3584448" y="3337560"/>
            <a:ext cx="484632" cy="960120"/>
          </a:xfrm>
          <a:prstGeom prst="line">
            <a:avLst/>
          </a:prstGeom>
          <a:noFill/>
          <a:ln w="20320">
            <a:solidFill>
              <a:srgbClr val="1E5AA8"/>
            </a:solidFill>
            <a:prstDash val="solid"/>
            <a:headEnd type="none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6510528" y="2267712"/>
            <a:ext cx="137160" cy="0"/>
          </a:xfrm>
          <a:prstGeom prst="line">
            <a:avLst/>
          </a:prstGeom>
          <a:noFill/>
          <a:ln w="20320">
            <a:solidFill>
              <a:srgbClr val="1E5AA8"/>
            </a:solidFill>
            <a:prstDash val="solid"/>
            <a:headEnd type="none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6510528" y="3273552"/>
            <a:ext cx="137160" cy="0"/>
          </a:xfrm>
          <a:prstGeom prst="line">
            <a:avLst/>
          </a:prstGeom>
          <a:noFill/>
          <a:ln w="20320">
            <a:solidFill>
              <a:srgbClr val="1E5AA8"/>
            </a:solidFill>
            <a:prstDash val="solid"/>
            <a:headEnd type="none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6510528" y="4297680"/>
            <a:ext cx="137160" cy="0"/>
          </a:xfrm>
          <a:prstGeom prst="line">
            <a:avLst/>
          </a:prstGeom>
          <a:noFill/>
          <a:ln w="20320">
            <a:solidFill>
              <a:srgbClr val="1E5AA8"/>
            </a:solidFill>
            <a:prstDash val="solid"/>
            <a:headEnd type="none"/>
            <a:tailEnd type="triangle"/>
          </a:ln>
        </p:spPr>
      </p:sp>
      <p:sp>
        <p:nvSpPr>
          <p:cNvPr id="43" name="Text 41"/>
          <p:cNvSpPr/>
          <p:nvPr/>
        </p:nvSpPr>
        <p:spPr>
          <a:xfrm>
            <a:off x="868680" y="516636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7A75"/>
                </a:solidFill>
              </a:rPr>
              <a:t>Engineering question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2542032" y="5166360"/>
            <a:ext cx="8641080" cy="457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2447"/>
                </a:solidFill>
              </a:rPr>
              <a:t>Can these interactions be coordinated and measured without creating new structural, packaging, restraint or timing conflicts?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38404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7A75"/>
                </a:solidFill>
              </a:rPr>
              <a:t>PROBLEM STRUCTURE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12648" y="621792"/>
            <a:ext cx="10835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447"/>
                </a:solidFill>
              </a:rPr>
              <a:t>The system behaves as a chain of coupled boundary conditions.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30936" y="1207008"/>
            <a:ext cx="10561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25466"/>
                </a:solidFill>
              </a:rPr>
              <a:t>A change in one block can alter the load or motion seen by another.</a:t>
            </a:r>
            <a:endParaRPr lang="en-US" sz="108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15087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240280"/>
            <a:ext cx="64008" cy="1371600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2350008"/>
            <a:ext cx="1252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2447"/>
                </a:solidFill>
              </a:rPr>
              <a:t>Occupant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13232" y="2670048"/>
            <a:ext cx="1252728" cy="8595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83247"/>
                </a:solidFill>
              </a:rPr>
              <a:t>trajectory / posture</a:t>
            </a:r>
            <a:endParaRPr lang="en-US" sz="860" dirty="0"/>
          </a:p>
        </p:txBody>
      </p:sp>
      <p:sp>
        <p:nvSpPr>
          <p:cNvPr id="9" name="Shape 7"/>
          <p:cNvSpPr/>
          <p:nvPr/>
        </p:nvSpPr>
        <p:spPr>
          <a:xfrm>
            <a:off x="2084832" y="2926080"/>
            <a:ext cx="384048" cy="0"/>
          </a:xfrm>
          <a:prstGeom prst="line">
            <a:avLst/>
          </a:prstGeom>
          <a:noFill/>
          <a:ln w="16510">
            <a:solidFill>
              <a:srgbClr val="425466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514600" y="2240280"/>
            <a:ext cx="15087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14600" y="2240280"/>
            <a:ext cx="64008" cy="1371600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79192" y="2350008"/>
            <a:ext cx="1252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2447"/>
                </a:solidFill>
              </a:rPr>
              <a:t>Restraint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79192" y="2670048"/>
            <a:ext cx="1252728" cy="8595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83247"/>
                </a:solidFill>
              </a:rPr>
              <a:t>coupling / routing</a:t>
            </a:r>
            <a:endParaRPr lang="en-US" sz="860" dirty="0"/>
          </a:p>
        </p:txBody>
      </p:sp>
      <p:sp>
        <p:nvSpPr>
          <p:cNvPr id="14" name="Shape 12"/>
          <p:cNvSpPr/>
          <p:nvPr/>
        </p:nvSpPr>
        <p:spPr>
          <a:xfrm>
            <a:off x="4050792" y="2926080"/>
            <a:ext cx="384048" cy="0"/>
          </a:xfrm>
          <a:prstGeom prst="line">
            <a:avLst/>
          </a:prstGeom>
          <a:noFill/>
          <a:ln w="16510">
            <a:solidFill>
              <a:srgbClr val="425466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480560" y="2240280"/>
            <a:ext cx="15087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80560" y="2240280"/>
            <a:ext cx="64008" cy="1371600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45152" y="2350008"/>
            <a:ext cx="1252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2447"/>
                </a:solidFill>
              </a:rPr>
              <a:t>Seat motion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45152" y="2670048"/>
            <a:ext cx="1252728" cy="8595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83247"/>
                </a:solidFill>
              </a:rPr>
              <a:t>translation / backrest</a:t>
            </a:r>
            <a:endParaRPr lang="en-US" sz="860" dirty="0"/>
          </a:p>
        </p:txBody>
      </p:sp>
      <p:sp>
        <p:nvSpPr>
          <p:cNvPr id="19" name="Shape 17"/>
          <p:cNvSpPr/>
          <p:nvPr/>
        </p:nvSpPr>
        <p:spPr>
          <a:xfrm>
            <a:off x="6016752" y="2926080"/>
            <a:ext cx="384048" cy="0"/>
          </a:xfrm>
          <a:prstGeom prst="line">
            <a:avLst/>
          </a:prstGeom>
          <a:noFill/>
          <a:ln w="16510">
            <a:solidFill>
              <a:srgbClr val="425466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446520" y="2240280"/>
            <a:ext cx="15087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46520" y="2240280"/>
            <a:ext cx="64008" cy="1371600"/>
          </a:xfrm>
          <a:prstGeom prst="rect">
            <a:avLst/>
          </a:prstGeom>
          <a:solidFill>
            <a:srgbClr val="B23A3A"/>
          </a:solidFill>
          <a:ln w="12700">
            <a:solidFill>
              <a:srgbClr val="B23A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11112" y="2350008"/>
            <a:ext cx="1252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2447"/>
                </a:solidFill>
              </a:rPr>
              <a:t>Structure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611112" y="2670048"/>
            <a:ext cx="1252728" cy="8595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83247"/>
                </a:solidFill>
              </a:rPr>
              <a:t>load paths / joints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7982712" y="2926080"/>
            <a:ext cx="384048" cy="0"/>
          </a:xfrm>
          <a:prstGeom prst="line">
            <a:avLst/>
          </a:prstGeom>
          <a:noFill/>
          <a:ln w="16510">
            <a:solidFill>
              <a:srgbClr val="425466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412480" y="2240280"/>
            <a:ext cx="15087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412480" y="2240280"/>
            <a:ext cx="64008" cy="1371600"/>
          </a:xfrm>
          <a:prstGeom prst="rect">
            <a:avLst/>
          </a:prstGeom>
          <a:solidFill>
            <a:srgbClr val="425466"/>
          </a:solidFill>
          <a:ln w="12700">
            <a:solidFill>
              <a:srgbClr val="42546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77072" y="2350008"/>
            <a:ext cx="1252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2447"/>
                </a:solidFill>
              </a:rPr>
              <a:t>Vehicle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577072" y="2670048"/>
            <a:ext cx="1252728" cy="8595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83247"/>
                </a:solidFill>
              </a:rPr>
              <a:t>hardpoints / BIW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9948672" y="2926080"/>
            <a:ext cx="384048" cy="0"/>
          </a:xfrm>
          <a:prstGeom prst="line">
            <a:avLst/>
          </a:prstGeom>
          <a:noFill/>
          <a:ln w="16510">
            <a:solidFill>
              <a:srgbClr val="425466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10378440" y="2240280"/>
            <a:ext cx="15087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378440" y="2240280"/>
            <a:ext cx="64008" cy="1371600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543032" y="2350008"/>
            <a:ext cx="1252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2447"/>
                </a:solidFill>
              </a:rPr>
              <a:t>Timing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543032" y="2670048"/>
            <a:ext cx="1252728" cy="8595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83247"/>
                </a:solidFill>
              </a:rPr>
              <a:t>state / rebound</a:t>
            </a:r>
            <a:endParaRPr lang="en-US" sz="860" dirty="0"/>
          </a:p>
        </p:txBody>
      </p:sp>
      <p:sp>
        <p:nvSpPr>
          <p:cNvPr id="34" name="Text 32"/>
          <p:cNvSpPr/>
          <p:nvPr/>
        </p:nvSpPr>
        <p:spPr>
          <a:xfrm>
            <a:off x="658368" y="175564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7A75"/>
                </a:solidFill>
              </a:rPr>
              <a:t>Coupling logic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58368" y="4069080"/>
            <a:ext cx="338328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58368" y="4069080"/>
            <a:ext cx="64008" cy="1170432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2960" y="4178808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2447"/>
                </a:solidFill>
              </a:rPr>
              <a:t>Local optimization can move the problem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22960" y="4498848"/>
            <a:ext cx="3127248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83247"/>
                </a:solidFill>
              </a:rPr>
              <a:t>More stiffness may reduce motion but increase transmitted load. More travel may help time/stroke but create package/end-stop demands.</a:t>
            </a:r>
            <a:endParaRPr lang="en-US" sz="880" dirty="0"/>
          </a:p>
        </p:txBody>
      </p:sp>
      <p:sp>
        <p:nvSpPr>
          <p:cNvPr id="39" name="Shape 37"/>
          <p:cNvSpPr/>
          <p:nvPr/>
        </p:nvSpPr>
        <p:spPr>
          <a:xfrm>
            <a:off x="4407408" y="4069080"/>
            <a:ext cx="338328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407408" y="4069080"/>
            <a:ext cx="64008" cy="1170432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0" y="4178808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2447"/>
                </a:solidFill>
              </a:rPr>
              <a:t>Interface changes propagate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4572000" y="4498848"/>
            <a:ext cx="3127248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83247"/>
                </a:solidFill>
              </a:rPr>
              <a:t>Moving an interface can change packaging, restraint geometry and structural load transfer simultaneously.</a:t>
            </a:r>
            <a:endParaRPr lang="en-US" sz="880" dirty="0"/>
          </a:p>
        </p:txBody>
      </p:sp>
      <p:sp>
        <p:nvSpPr>
          <p:cNvPr id="43" name="Shape 41"/>
          <p:cNvSpPr/>
          <p:nvPr/>
        </p:nvSpPr>
        <p:spPr>
          <a:xfrm>
            <a:off x="8156448" y="4069080"/>
            <a:ext cx="338328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156448" y="4069080"/>
            <a:ext cx="64008" cy="1170432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321040" y="4178808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2447"/>
                </a:solidFill>
              </a:rPr>
              <a:t>System evidence is required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8321040" y="4498848"/>
            <a:ext cx="3127248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83247"/>
                </a:solidFill>
              </a:rPr>
              <a:t>Therefore: controlled engineering → measurement → testing → correlation.</a:t>
            </a:r>
            <a:endParaRPr lang="en-US" sz="8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38404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7A75"/>
                </a:solidFill>
              </a:rPr>
              <a:t>WHY ONE FEATURE IS NOT ENOUGH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12648" y="621792"/>
            <a:ext cx="10835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447"/>
                </a:solidFill>
              </a:rPr>
              <a:t>A feature-level gain can become a system-level trade-off.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30936" y="1207008"/>
            <a:ext cx="10561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25466"/>
                </a:solidFill>
              </a:rPr>
              <a:t>The unit of evaluation is the coupled seat + occupant + restraint + vehicle boundary.</a:t>
            </a:r>
            <a:endParaRPr lang="en-US" sz="1080" dirty="0"/>
          </a:p>
        </p:txBody>
      </p:sp>
      <p:sp>
        <p:nvSpPr>
          <p:cNvPr id="5" name="Shape 3"/>
          <p:cNvSpPr/>
          <p:nvPr/>
        </p:nvSpPr>
        <p:spPr>
          <a:xfrm>
            <a:off x="658368" y="1965960"/>
            <a:ext cx="283464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965960"/>
            <a:ext cx="64008" cy="621792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075688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2447"/>
                </a:solidFill>
              </a:rPr>
              <a:t>Increase controlled motion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395728"/>
            <a:ext cx="2578608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83247"/>
                </a:solidFill>
              </a:rPr>
              <a:t>Changes stopping-time/stroke relationship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3657600" y="1965960"/>
            <a:ext cx="283464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1965960"/>
            <a:ext cx="64008" cy="621792"/>
          </a:xfrm>
          <a:prstGeom prst="rect">
            <a:avLst/>
          </a:prstGeom>
          <a:solidFill>
            <a:srgbClr val="425466"/>
          </a:solidFill>
          <a:ln w="12700">
            <a:solidFill>
              <a:srgbClr val="4254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22192" y="2075688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2447"/>
                </a:solidFill>
              </a:rPr>
              <a:t>System interaction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822192" y="2395728"/>
            <a:ext cx="2578608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83247"/>
                </a:solidFill>
              </a:rPr>
              <a:t>Seat/occupant trajectory + structural reactions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6656832" y="1965960"/>
            <a:ext cx="4736592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56832" y="1965960"/>
            <a:ext cx="64008" cy="621792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21424" y="207568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2447"/>
                </a:solidFill>
              </a:rPr>
              <a:t>Required evidence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21424" y="2395728"/>
            <a:ext cx="448056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83247"/>
                </a:solidFill>
              </a:rPr>
              <a:t>Configuration-controlled measurement and correlation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658368" y="2743200"/>
            <a:ext cx="283464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" y="2743200"/>
            <a:ext cx="64008" cy="621792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2852928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2447"/>
                </a:solidFill>
              </a:rPr>
              <a:t>Increase stiffness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" y="3172968"/>
            <a:ext cx="2578608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83247"/>
                </a:solidFill>
              </a:rPr>
              <a:t>May reduce motion but raise transmitted load</a:t>
            </a:r>
            <a:endParaRPr lang="en-US" sz="820" dirty="0"/>
          </a:p>
        </p:txBody>
      </p:sp>
      <p:sp>
        <p:nvSpPr>
          <p:cNvPr id="21" name="Shape 19"/>
          <p:cNvSpPr/>
          <p:nvPr/>
        </p:nvSpPr>
        <p:spPr>
          <a:xfrm>
            <a:off x="3657600" y="2743200"/>
            <a:ext cx="283464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0" y="2743200"/>
            <a:ext cx="64008" cy="621792"/>
          </a:xfrm>
          <a:prstGeom prst="rect">
            <a:avLst/>
          </a:prstGeom>
          <a:solidFill>
            <a:srgbClr val="425466"/>
          </a:solidFill>
          <a:ln w="12700">
            <a:solidFill>
              <a:srgbClr val="42546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22192" y="2852928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2447"/>
                </a:solidFill>
              </a:rPr>
              <a:t>System interaction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822192" y="3172968"/>
            <a:ext cx="2578608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83247"/>
                </a:solidFill>
              </a:rPr>
              <a:t>Force history + joint/section response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6656832" y="2743200"/>
            <a:ext cx="4736592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656832" y="2743200"/>
            <a:ext cx="64008" cy="621792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21424" y="285292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2447"/>
                </a:solidFill>
              </a:rPr>
              <a:t>Required evidence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821424" y="3172968"/>
            <a:ext cx="448056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83247"/>
                </a:solidFill>
              </a:rPr>
              <a:t>Configuration-controlled measurement and correlation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658368" y="3520440"/>
            <a:ext cx="283464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8368" y="3520440"/>
            <a:ext cx="64008" cy="621792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" y="3630168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2447"/>
                </a:solidFill>
              </a:rPr>
              <a:t>Move an interface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22960" y="3950208"/>
            <a:ext cx="2578608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83247"/>
                </a:solidFill>
              </a:rPr>
              <a:t>May clear one region but change another</a:t>
            </a:r>
            <a:endParaRPr lang="en-US" sz="820" dirty="0"/>
          </a:p>
        </p:txBody>
      </p:sp>
      <p:sp>
        <p:nvSpPr>
          <p:cNvPr id="33" name="Shape 31"/>
          <p:cNvSpPr/>
          <p:nvPr/>
        </p:nvSpPr>
        <p:spPr>
          <a:xfrm>
            <a:off x="3657600" y="3520440"/>
            <a:ext cx="283464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657600" y="3520440"/>
            <a:ext cx="64008" cy="621792"/>
          </a:xfrm>
          <a:prstGeom prst="rect">
            <a:avLst/>
          </a:prstGeom>
          <a:solidFill>
            <a:srgbClr val="425466"/>
          </a:solidFill>
          <a:ln w="12700">
            <a:solidFill>
              <a:srgbClr val="42546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22192" y="3630168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2447"/>
                </a:solidFill>
              </a:rPr>
              <a:t>System interaction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822192" y="3950208"/>
            <a:ext cx="2578608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83247"/>
                </a:solidFill>
              </a:rPr>
              <a:t>Envelope + restraint + load-path check</a:t>
            </a:r>
            <a:endParaRPr lang="en-US" sz="820" dirty="0"/>
          </a:p>
        </p:txBody>
      </p:sp>
      <p:sp>
        <p:nvSpPr>
          <p:cNvPr id="37" name="Shape 35"/>
          <p:cNvSpPr/>
          <p:nvPr/>
        </p:nvSpPr>
        <p:spPr>
          <a:xfrm>
            <a:off x="6656832" y="3520440"/>
            <a:ext cx="4736592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656832" y="3520440"/>
            <a:ext cx="64008" cy="621792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21424" y="36301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2447"/>
                </a:solidFill>
              </a:rPr>
              <a:t>Required evidence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821424" y="3950208"/>
            <a:ext cx="448056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83247"/>
                </a:solidFill>
              </a:rPr>
              <a:t>Configuration-controlled measurement and correlation</a:t>
            </a:r>
            <a:endParaRPr lang="en-US" sz="820" dirty="0"/>
          </a:p>
        </p:txBody>
      </p:sp>
      <p:sp>
        <p:nvSpPr>
          <p:cNvPr id="41" name="Shape 39"/>
          <p:cNvSpPr/>
          <p:nvPr/>
        </p:nvSpPr>
        <p:spPr>
          <a:xfrm>
            <a:off x="658368" y="4297680"/>
            <a:ext cx="283464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58368" y="4297680"/>
            <a:ext cx="64008" cy="621792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22960" y="4407408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2447"/>
                </a:solidFill>
              </a:rPr>
              <a:t>Change restraint routing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22960" y="4727448"/>
            <a:ext cx="2578608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83247"/>
                </a:solidFill>
              </a:rPr>
              <a:t>May alter occupant trajectory</a:t>
            </a:r>
            <a:endParaRPr lang="en-US" sz="820" dirty="0"/>
          </a:p>
        </p:txBody>
      </p:sp>
      <p:sp>
        <p:nvSpPr>
          <p:cNvPr id="45" name="Shape 43"/>
          <p:cNvSpPr/>
          <p:nvPr/>
        </p:nvSpPr>
        <p:spPr>
          <a:xfrm>
            <a:off x="3657600" y="4297680"/>
            <a:ext cx="283464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657600" y="4297680"/>
            <a:ext cx="64008" cy="621792"/>
          </a:xfrm>
          <a:prstGeom prst="rect">
            <a:avLst/>
          </a:prstGeom>
          <a:solidFill>
            <a:srgbClr val="425466"/>
          </a:solidFill>
          <a:ln w="12700">
            <a:solidFill>
              <a:srgbClr val="42546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822192" y="4407408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2447"/>
                </a:solidFill>
              </a:rPr>
              <a:t>System interaction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3822192" y="4727448"/>
            <a:ext cx="2578608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83247"/>
                </a:solidFill>
              </a:rPr>
              <a:t>Timing + geometry + occupant motion</a:t>
            </a:r>
            <a:endParaRPr lang="en-US" sz="820" dirty="0"/>
          </a:p>
        </p:txBody>
      </p:sp>
      <p:sp>
        <p:nvSpPr>
          <p:cNvPr id="49" name="Shape 47"/>
          <p:cNvSpPr/>
          <p:nvPr/>
        </p:nvSpPr>
        <p:spPr>
          <a:xfrm>
            <a:off x="6656832" y="4297680"/>
            <a:ext cx="4736592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656832" y="4297680"/>
            <a:ext cx="64008" cy="621792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821424" y="440740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2447"/>
                </a:solidFill>
              </a:rPr>
              <a:t>Required evidence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821424" y="4727448"/>
            <a:ext cx="448056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83247"/>
                </a:solidFill>
              </a:rPr>
              <a:t>Configuration-controlled measurement and correlation</a:t>
            </a:r>
            <a:endParaRPr lang="en-US" sz="820" dirty="0"/>
          </a:p>
        </p:txBody>
      </p:sp>
      <p:sp>
        <p:nvSpPr>
          <p:cNvPr id="53" name="Text 51"/>
          <p:cNvSpPr/>
          <p:nvPr/>
        </p:nvSpPr>
        <p:spPr>
          <a:xfrm>
            <a:off x="713232" y="541324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447"/>
                </a:solidFill>
              </a:rPr>
              <a:t>Engineering conclusion: optimize the system response, not one isolated feature.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38404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7A75"/>
                </a:solidFill>
              </a:rPr>
              <a:t>DESIGN-HYPOTHESIS LOGIC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12648" y="621792"/>
            <a:ext cx="10835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447"/>
                </a:solidFill>
              </a:rPr>
              <a:t>How the engineering hypothesis is structured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30936" y="1207008"/>
            <a:ext cx="10561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25466"/>
                </a:solidFill>
              </a:rPr>
              <a:t>This is a logic reconstruction, not a claimed historical invention chronology.</a:t>
            </a:r>
            <a:endParaRPr lang="en-US" sz="1080" dirty="0"/>
          </a:p>
        </p:txBody>
      </p:sp>
      <p:sp>
        <p:nvSpPr>
          <p:cNvPr id="5" name="Shape 3"/>
          <p:cNvSpPr/>
          <p:nvPr/>
        </p:nvSpPr>
        <p:spPr>
          <a:xfrm>
            <a:off x="502920" y="2286000"/>
            <a:ext cx="178308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2286000"/>
            <a:ext cx="64008" cy="1481328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" y="2395728"/>
            <a:ext cx="1527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B2447"/>
                </a:solidFill>
              </a:rPr>
              <a:t>Problem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67512" y="2715768"/>
            <a:ext cx="1527048" cy="969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183247"/>
                </a:solidFill>
              </a:rPr>
              <a:t>dynamic occupant / load-path coupling</a:t>
            </a:r>
            <a:endParaRPr lang="en-US" sz="790" dirty="0"/>
          </a:p>
        </p:txBody>
      </p:sp>
      <p:sp>
        <p:nvSpPr>
          <p:cNvPr id="9" name="Shape 7"/>
          <p:cNvSpPr/>
          <p:nvPr/>
        </p:nvSpPr>
        <p:spPr>
          <a:xfrm>
            <a:off x="2295144" y="3017520"/>
            <a:ext cx="246888" cy="0"/>
          </a:xfrm>
          <a:prstGeom prst="line">
            <a:avLst/>
          </a:prstGeom>
          <a:noFill/>
          <a:ln w="13970">
            <a:solidFill>
              <a:srgbClr val="425466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441448" y="2286000"/>
            <a:ext cx="178308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41448" y="2286000"/>
            <a:ext cx="64008" cy="1481328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06040" y="2395728"/>
            <a:ext cx="1527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B2447"/>
                </a:solidFill>
              </a:rPr>
              <a:t>Constraint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606040" y="2715768"/>
            <a:ext cx="1527048" cy="969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183247"/>
                </a:solidFill>
              </a:rPr>
              <a:t>seat + restraint + vehicle boundary</a:t>
            </a:r>
            <a:endParaRPr lang="en-US" sz="790" dirty="0"/>
          </a:p>
        </p:txBody>
      </p:sp>
      <p:sp>
        <p:nvSpPr>
          <p:cNvPr id="14" name="Shape 12"/>
          <p:cNvSpPr/>
          <p:nvPr/>
        </p:nvSpPr>
        <p:spPr>
          <a:xfrm>
            <a:off x="4233672" y="3017520"/>
            <a:ext cx="246888" cy="0"/>
          </a:xfrm>
          <a:prstGeom prst="line">
            <a:avLst/>
          </a:prstGeom>
          <a:noFill/>
          <a:ln w="13970">
            <a:solidFill>
              <a:srgbClr val="425466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379976" y="2286000"/>
            <a:ext cx="178308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79976" y="2286000"/>
            <a:ext cx="64008" cy="1481328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44568" y="2395728"/>
            <a:ext cx="1527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B2447"/>
                </a:solidFill>
              </a:rPr>
              <a:t>Question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44568" y="2715768"/>
            <a:ext cx="1527048" cy="969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183247"/>
                </a:solidFill>
              </a:rPr>
              <a:t>can functions be coordinated?</a:t>
            </a:r>
            <a:endParaRPr lang="en-US" sz="790" dirty="0"/>
          </a:p>
        </p:txBody>
      </p:sp>
      <p:sp>
        <p:nvSpPr>
          <p:cNvPr id="19" name="Shape 17"/>
          <p:cNvSpPr/>
          <p:nvPr/>
        </p:nvSpPr>
        <p:spPr>
          <a:xfrm>
            <a:off x="6172200" y="3017520"/>
            <a:ext cx="246888" cy="0"/>
          </a:xfrm>
          <a:prstGeom prst="line">
            <a:avLst/>
          </a:prstGeom>
          <a:noFill/>
          <a:ln w="13970">
            <a:solidFill>
              <a:srgbClr val="425466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318504" y="2286000"/>
            <a:ext cx="178308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18504" y="2286000"/>
            <a:ext cx="64008" cy="1481328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83096" y="2395728"/>
            <a:ext cx="1527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B2447"/>
                </a:solidFill>
              </a:rPr>
              <a:t>Hypothesis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483096" y="2715768"/>
            <a:ext cx="1527048" cy="969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183247"/>
                </a:solidFill>
              </a:rPr>
              <a:t>controlled motion + functional load-path separation</a:t>
            </a:r>
            <a:endParaRPr lang="en-US" sz="790" dirty="0"/>
          </a:p>
        </p:txBody>
      </p:sp>
      <p:sp>
        <p:nvSpPr>
          <p:cNvPr id="24" name="Shape 22"/>
          <p:cNvSpPr/>
          <p:nvPr/>
        </p:nvSpPr>
        <p:spPr>
          <a:xfrm>
            <a:off x="8110728" y="3017520"/>
            <a:ext cx="246888" cy="0"/>
          </a:xfrm>
          <a:prstGeom prst="line">
            <a:avLst/>
          </a:prstGeom>
          <a:noFill/>
          <a:ln w="13970">
            <a:solidFill>
              <a:srgbClr val="425466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257032" y="2286000"/>
            <a:ext cx="178308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57032" y="2286000"/>
            <a:ext cx="64008" cy="1481328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21624" y="2395728"/>
            <a:ext cx="1527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B2447"/>
                </a:solidFill>
              </a:rPr>
              <a:t>Architecture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421624" y="2715768"/>
            <a:ext cx="1527048" cy="969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183247"/>
                </a:solidFill>
              </a:rPr>
              <a:t>motion + occupant interface + event states</a:t>
            </a:r>
            <a:endParaRPr lang="en-US" sz="790" dirty="0"/>
          </a:p>
        </p:txBody>
      </p:sp>
      <p:sp>
        <p:nvSpPr>
          <p:cNvPr id="29" name="Shape 27"/>
          <p:cNvSpPr/>
          <p:nvPr/>
        </p:nvSpPr>
        <p:spPr>
          <a:xfrm>
            <a:off x="10049256" y="3017520"/>
            <a:ext cx="246888" cy="0"/>
          </a:xfrm>
          <a:prstGeom prst="line">
            <a:avLst/>
          </a:prstGeom>
          <a:noFill/>
          <a:ln w="13970">
            <a:solidFill>
              <a:srgbClr val="425466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10195560" y="2286000"/>
            <a:ext cx="178308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195560" y="2286000"/>
            <a:ext cx="64008" cy="1481328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360152" y="2395728"/>
            <a:ext cx="1527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B2447"/>
                </a:solidFill>
              </a:rPr>
              <a:t>Evidence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0360152" y="2715768"/>
            <a:ext cx="1527048" cy="969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183247"/>
                </a:solidFill>
              </a:rPr>
              <a:t>measure, test, correlate</a:t>
            </a:r>
            <a:endParaRPr lang="en-US" sz="790" dirty="0"/>
          </a:p>
        </p:txBody>
      </p:sp>
      <p:sp>
        <p:nvSpPr>
          <p:cNvPr id="34" name="Shape 32"/>
          <p:cNvSpPr/>
          <p:nvPr/>
        </p:nvSpPr>
        <p:spPr>
          <a:xfrm>
            <a:off x="3794760" y="4160520"/>
            <a:ext cx="3886200" cy="292608"/>
          </a:xfrm>
          <a:prstGeom prst="roundRect">
            <a:avLst>
              <a:gd name="adj" fmla="val 25000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67912" y="4219956"/>
            <a:ext cx="3739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B23A3A"/>
                </a:solidFill>
              </a:rPr>
              <a:t>HISTORICAL CHRONOLOGY: NOT ESTABLISHED</a:t>
            </a:r>
            <a:endParaRPr lang="en-US" sz="820" dirty="0"/>
          </a:p>
        </p:txBody>
      </p:sp>
      <p:sp>
        <p:nvSpPr>
          <p:cNvPr id="36" name="Text 34"/>
          <p:cNvSpPr/>
          <p:nvPr/>
        </p:nvSpPr>
        <p:spPr>
          <a:xfrm>
            <a:off x="914400" y="4709160"/>
            <a:ext cx="1024128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0B2447"/>
                </a:solidFill>
              </a:rPr>
              <a:t>Where the controlling source does not document why a specific feature was first conceived, the correct label is NOT ESTABLISHED — SOURCE REQUIRED.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38404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7A75"/>
                </a:solidFill>
              </a:rPr>
              <a:t>T-OCS FUNCTIONAL CONCEPT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12648" y="621792"/>
            <a:ext cx="10835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447"/>
                </a:solidFill>
              </a:rPr>
              <a:t>At L1, T-OCS is a coordinated seat-system hypothesis.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30936" y="1207008"/>
            <a:ext cx="10561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25466"/>
                </a:solidFill>
              </a:rPr>
              <a:t>High-level function can be understood without implementation detail.</a:t>
            </a:r>
            <a:endParaRPr lang="en-US" sz="1080" dirty="0"/>
          </a:p>
        </p:txBody>
      </p:sp>
      <p:sp>
        <p:nvSpPr>
          <p:cNvPr id="5" name="Shape 3"/>
          <p:cNvSpPr/>
          <p:nvPr/>
        </p:nvSpPr>
        <p:spPr>
          <a:xfrm>
            <a:off x="4709160" y="2084832"/>
            <a:ext cx="283464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09160" y="2084832"/>
            <a:ext cx="64008" cy="1353312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73752" y="2194560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2447"/>
                </a:solidFill>
              </a:rPr>
              <a:t>T-OCS functional core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73752" y="2514600"/>
            <a:ext cx="2578608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83247"/>
                </a:solidFill>
              </a:rPr>
              <a:t>Coordinate seat motion, seatback motion, occupant interaction and structural load paths during a dynamic event.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960120" y="169164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1691640"/>
            <a:ext cx="64008" cy="1051560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24712" y="1801368"/>
            <a:ext cx="2075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B2447"/>
                </a:solidFill>
              </a:rPr>
              <a:t>Seat motion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124712" y="2121408"/>
            <a:ext cx="2075688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183247"/>
                </a:solidFill>
              </a:rPr>
              <a:t>Controlled functional motion</a:t>
            </a:r>
            <a:endParaRPr lang="en-US" sz="870" dirty="0"/>
          </a:p>
        </p:txBody>
      </p:sp>
      <p:sp>
        <p:nvSpPr>
          <p:cNvPr id="13" name="Shape 11"/>
          <p:cNvSpPr/>
          <p:nvPr/>
        </p:nvSpPr>
        <p:spPr>
          <a:xfrm>
            <a:off x="8549640" y="169164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549640" y="1691640"/>
            <a:ext cx="64008" cy="1051560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14232" y="1801368"/>
            <a:ext cx="2075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B2447"/>
                </a:solidFill>
              </a:rPr>
              <a:t>Seatback motion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714232" y="2121408"/>
            <a:ext cx="2075688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183247"/>
                </a:solidFill>
              </a:rPr>
              <a:t>Controlled functional motion</a:t>
            </a:r>
            <a:endParaRPr lang="en-US" sz="870" dirty="0"/>
          </a:p>
        </p:txBody>
      </p:sp>
      <p:sp>
        <p:nvSpPr>
          <p:cNvPr id="17" name="Shape 15"/>
          <p:cNvSpPr/>
          <p:nvPr/>
        </p:nvSpPr>
        <p:spPr>
          <a:xfrm>
            <a:off x="960120" y="370332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0120" y="3703320"/>
            <a:ext cx="64008" cy="1051560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24712" y="3813048"/>
            <a:ext cx="2075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B2447"/>
                </a:solidFill>
              </a:rPr>
              <a:t>Occupant interface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124712" y="4133088"/>
            <a:ext cx="2075688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183247"/>
                </a:solidFill>
              </a:rPr>
              <a:t>Restraint + contact relationship</a:t>
            </a:r>
            <a:endParaRPr lang="en-US" sz="870" dirty="0"/>
          </a:p>
        </p:txBody>
      </p:sp>
      <p:sp>
        <p:nvSpPr>
          <p:cNvPr id="21" name="Shape 19"/>
          <p:cNvSpPr/>
          <p:nvPr/>
        </p:nvSpPr>
        <p:spPr>
          <a:xfrm>
            <a:off x="8549640" y="370332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549640" y="3703320"/>
            <a:ext cx="64008" cy="1051560"/>
          </a:xfrm>
          <a:prstGeom prst="rect">
            <a:avLst/>
          </a:prstGeom>
          <a:solidFill>
            <a:srgbClr val="B23A3A"/>
          </a:solidFill>
          <a:ln w="12700">
            <a:solidFill>
              <a:srgbClr val="B23A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714232" y="3813048"/>
            <a:ext cx="2075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B2447"/>
                </a:solidFill>
              </a:rPr>
              <a:t>Structural path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714232" y="4133088"/>
            <a:ext cx="2075688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183247"/>
                </a:solidFill>
              </a:rPr>
              <a:t>Load transfer + vehicle boundary</a:t>
            </a:r>
            <a:endParaRPr lang="en-US" sz="870" dirty="0"/>
          </a:p>
        </p:txBody>
      </p:sp>
      <p:sp>
        <p:nvSpPr>
          <p:cNvPr id="25" name="Shape 23"/>
          <p:cNvSpPr/>
          <p:nvPr/>
        </p:nvSpPr>
        <p:spPr>
          <a:xfrm>
            <a:off x="3291840" y="2212848"/>
            <a:ext cx="1325880" cy="457200"/>
          </a:xfrm>
          <a:prstGeom prst="line">
            <a:avLst/>
          </a:prstGeom>
          <a:noFill/>
          <a:ln w="16510">
            <a:solidFill>
              <a:srgbClr val="425466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543800" y="2670048"/>
            <a:ext cx="941832" cy="-457200"/>
          </a:xfrm>
          <a:prstGeom prst="line">
            <a:avLst/>
          </a:prstGeom>
          <a:noFill/>
          <a:ln w="16510">
            <a:solidFill>
              <a:srgbClr val="425466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3291840" y="4224528"/>
            <a:ext cx="1325880" cy="-859536"/>
          </a:xfrm>
          <a:prstGeom prst="line">
            <a:avLst/>
          </a:prstGeom>
          <a:noFill/>
          <a:ln w="16510">
            <a:solidFill>
              <a:srgbClr val="425466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543800" y="3364992"/>
            <a:ext cx="941832" cy="859536"/>
          </a:xfrm>
          <a:prstGeom prst="line">
            <a:avLst/>
          </a:prstGeom>
          <a:noFill/>
          <a:ln w="16510">
            <a:solidFill>
              <a:srgbClr val="425466"/>
            </a:solidFill>
            <a:prstDash val="solid"/>
            <a:headEnd type="none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960120" y="530352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447"/>
                </a:solidFill>
              </a:rPr>
              <a:t>L1 message: the value is in the coordinated system hypothesis — not an unproven performance claim.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38404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7A75"/>
                </a:solidFill>
              </a:rPr>
              <a:t>FUNCTIONAL SYSTEM ARCHITECTURE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12648" y="621792"/>
            <a:ext cx="10835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447"/>
                </a:solidFill>
              </a:rPr>
              <a:t>The architecture is expressed as functions and evidence links.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30936" y="1207008"/>
            <a:ext cx="10561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25466"/>
                </a:solidFill>
              </a:rPr>
              <a:t>Functional blocks can be evaluated independently, but their system interactions must remain visible.</a:t>
            </a:r>
            <a:endParaRPr lang="en-US" sz="1080" dirty="0"/>
          </a:p>
        </p:txBody>
      </p:sp>
      <p:sp>
        <p:nvSpPr>
          <p:cNvPr id="5" name="Shape 3"/>
          <p:cNvSpPr/>
          <p:nvPr/>
        </p:nvSpPr>
        <p:spPr>
          <a:xfrm>
            <a:off x="658368" y="1783080"/>
            <a:ext cx="27432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783080"/>
            <a:ext cx="64008" cy="1234440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892808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2447"/>
                </a:solidFill>
              </a:rPr>
              <a:t>Motion management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212848"/>
            <a:ext cx="2487168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83247"/>
                </a:solidFill>
              </a:rPr>
              <a:t>Seat translation / seatback behavior</a:t>
            </a:r>
            <a:endParaRPr lang="en-US" sz="860" dirty="0"/>
          </a:p>
        </p:txBody>
      </p:sp>
      <p:sp>
        <p:nvSpPr>
          <p:cNvPr id="9" name="Shape 7"/>
          <p:cNvSpPr/>
          <p:nvPr/>
        </p:nvSpPr>
        <p:spPr>
          <a:xfrm>
            <a:off x="4187952" y="1783080"/>
            <a:ext cx="27432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87952" y="1783080"/>
            <a:ext cx="64008" cy="1234440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52544" y="1892808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2447"/>
                </a:solidFill>
              </a:rPr>
              <a:t>Occupant interface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352544" y="2212848"/>
            <a:ext cx="2487168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83247"/>
                </a:solidFill>
              </a:rPr>
              <a:t>Pelvic / torso / head guidance relationships</a:t>
            </a:r>
            <a:endParaRPr lang="en-US" sz="860" dirty="0"/>
          </a:p>
        </p:txBody>
      </p:sp>
      <p:sp>
        <p:nvSpPr>
          <p:cNvPr id="13" name="Shape 11"/>
          <p:cNvSpPr/>
          <p:nvPr/>
        </p:nvSpPr>
        <p:spPr>
          <a:xfrm>
            <a:off x="7717536" y="1783080"/>
            <a:ext cx="27432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17536" y="1783080"/>
            <a:ext cx="64008" cy="1234440"/>
          </a:xfrm>
          <a:prstGeom prst="rect">
            <a:avLst/>
          </a:prstGeom>
          <a:solidFill>
            <a:srgbClr val="B23A3A"/>
          </a:solidFill>
          <a:ln w="12700">
            <a:solidFill>
              <a:srgbClr val="B23A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82128" y="1892808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2447"/>
                </a:solidFill>
              </a:rPr>
              <a:t>Load paths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882128" y="2212848"/>
            <a:ext cx="2487168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83247"/>
                </a:solidFill>
              </a:rPr>
              <a:t>Bilateral structural reaction paths</a:t>
            </a:r>
            <a:endParaRPr lang="en-US" sz="860" dirty="0"/>
          </a:p>
        </p:txBody>
      </p:sp>
      <p:sp>
        <p:nvSpPr>
          <p:cNvPr id="17" name="Shape 15"/>
          <p:cNvSpPr/>
          <p:nvPr/>
        </p:nvSpPr>
        <p:spPr>
          <a:xfrm>
            <a:off x="658368" y="3749040"/>
            <a:ext cx="27432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" y="3749040"/>
            <a:ext cx="64008" cy="1234440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3858768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2447"/>
                </a:solidFill>
              </a:rPr>
              <a:t>Event state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4178808"/>
            <a:ext cx="2487168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83247"/>
                </a:solidFill>
              </a:rPr>
              <a:t>State-dependent constraints and transitions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187952" y="3749040"/>
            <a:ext cx="27432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87952" y="3749040"/>
            <a:ext cx="64008" cy="1234440"/>
          </a:xfrm>
          <a:prstGeom prst="rect">
            <a:avLst/>
          </a:prstGeom>
          <a:solidFill>
            <a:srgbClr val="425466"/>
          </a:solidFill>
          <a:ln w="12700">
            <a:solidFill>
              <a:srgbClr val="42546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52544" y="3858768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2447"/>
                </a:solidFill>
              </a:rPr>
              <a:t>Rebound / post-event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352544" y="4178808"/>
            <a:ext cx="2487168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83247"/>
                </a:solidFill>
              </a:rPr>
              <a:t>Reverse motion control + secure/post-event state</a:t>
            </a:r>
            <a:endParaRPr lang="en-US" sz="860" dirty="0"/>
          </a:p>
        </p:txBody>
      </p:sp>
      <p:sp>
        <p:nvSpPr>
          <p:cNvPr id="25" name="Shape 23"/>
          <p:cNvSpPr/>
          <p:nvPr/>
        </p:nvSpPr>
        <p:spPr>
          <a:xfrm>
            <a:off x="7717536" y="3749040"/>
            <a:ext cx="27432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17536" y="3749040"/>
            <a:ext cx="64008" cy="1234440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82128" y="3858768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2447"/>
                </a:solidFill>
              </a:rPr>
              <a:t>Measurement layer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882128" y="4178808"/>
            <a:ext cx="2487168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83247"/>
                </a:solidFill>
              </a:rPr>
              <a:t>Motion, reactions, component behavior, restraint data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3401568" y="2404872"/>
            <a:ext cx="731520" cy="0"/>
          </a:xfrm>
          <a:prstGeom prst="line">
            <a:avLst/>
          </a:prstGeom>
          <a:noFill/>
          <a:ln w="20320">
            <a:solidFill>
              <a:srgbClr val="1E5AA8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6931152" y="2404872"/>
            <a:ext cx="731520" cy="0"/>
          </a:xfrm>
          <a:prstGeom prst="line">
            <a:avLst/>
          </a:prstGeom>
          <a:noFill/>
          <a:ln w="20320">
            <a:solidFill>
              <a:srgbClr val="1E5AA8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3401568" y="4370832"/>
            <a:ext cx="731520" cy="0"/>
          </a:xfrm>
          <a:prstGeom prst="line">
            <a:avLst/>
          </a:prstGeom>
          <a:noFill/>
          <a:ln w="20320">
            <a:solidFill>
              <a:srgbClr val="1E5AA8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6931152" y="4370832"/>
            <a:ext cx="731520" cy="0"/>
          </a:xfrm>
          <a:prstGeom prst="line">
            <a:avLst/>
          </a:prstGeom>
          <a:noFill/>
          <a:ln w="20320">
            <a:solidFill>
              <a:srgbClr val="1E5AA8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9144000" y="3063240"/>
            <a:ext cx="0" cy="612648"/>
          </a:xfrm>
          <a:prstGeom prst="line">
            <a:avLst/>
          </a:prstGeom>
          <a:noFill/>
          <a:ln w="15240">
            <a:solidFill>
              <a:srgbClr val="425466"/>
            </a:solidFill>
            <a:prstDash val="solid"/>
            <a:headEnd type="none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1874520" y="542239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447"/>
                </a:solidFill>
              </a:rPr>
              <a:t>Every functional block ultimately needs a measurable evidence path.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38404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7A75"/>
                </a:solidFill>
              </a:rPr>
              <a:t>INTENDED CONTROLLED RESPONSE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12648" y="621792"/>
            <a:ext cx="10835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447"/>
                </a:solidFill>
              </a:rPr>
              <a:t>Canonical external state vocabulary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30936" y="1207008"/>
            <a:ext cx="10561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25466"/>
                </a:solidFill>
              </a:rPr>
              <a:t>States are a control language — not a statement that the physical transition behavior has been validated.</a:t>
            </a:r>
            <a:endParaRPr lang="en-US" sz="1080" dirty="0"/>
          </a:p>
        </p:txBody>
      </p:sp>
      <p:sp>
        <p:nvSpPr>
          <p:cNvPr id="5" name="Shape 3"/>
          <p:cNvSpPr/>
          <p:nvPr/>
        </p:nvSpPr>
        <p:spPr>
          <a:xfrm>
            <a:off x="493776" y="2011680"/>
            <a:ext cx="176479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93776" y="2011680"/>
            <a:ext cx="64008" cy="1417320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212140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2447"/>
                </a:solidFill>
              </a:rPr>
              <a:t>S0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58368" y="2441448"/>
            <a:ext cx="1508760" cy="9052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83247"/>
                </a:solidFill>
              </a:rPr>
              <a:t>Normal</a:t>
            </a:r>
            <a:endParaRPr lang="en-US" sz="960" dirty="0"/>
          </a:p>
        </p:txBody>
      </p:sp>
      <p:sp>
        <p:nvSpPr>
          <p:cNvPr id="9" name="Shape 7"/>
          <p:cNvSpPr/>
          <p:nvPr/>
        </p:nvSpPr>
        <p:spPr>
          <a:xfrm>
            <a:off x="2258568" y="2724912"/>
            <a:ext cx="137160" cy="0"/>
          </a:xfrm>
          <a:prstGeom prst="line">
            <a:avLst/>
          </a:prstGeom>
          <a:noFill/>
          <a:ln w="15240">
            <a:solidFill>
              <a:srgbClr val="425466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432304" y="2011680"/>
            <a:ext cx="176479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32304" y="2011680"/>
            <a:ext cx="64008" cy="1417320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96896" y="212140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2447"/>
                </a:solidFill>
              </a:rPr>
              <a:t>S1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596896" y="2441448"/>
            <a:ext cx="1508760" cy="9052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83247"/>
                </a:solidFill>
              </a:rPr>
              <a:t>Armed/Capture</a:t>
            </a:r>
            <a:endParaRPr lang="en-US" sz="960" dirty="0"/>
          </a:p>
        </p:txBody>
      </p:sp>
      <p:sp>
        <p:nvSpPr>
          <p:cNvPr id="14" name="Shape 12"/>
          <p:cNvSpPr/>
          <p:nvPr/>
        </p:nvSpPr>
        <p:spPr>
          <a:xfrm>
            <a:off x="4197096" y="2724912"/>
            <a:ext cx="137160" cy="0"/>
          </a:xfrm>
          <a:prstGeom prst="line">
            <a:avLst/>
          </a:prstGeom>
          <a:noFill/>
          <a:ln w="15240">
            <a:solidFill>
              <a:srgbClr val="425466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370832" y="2011680"/>
            <a:ext cx="176479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70832" y="2011680"/>
            <a:ext cx="64008" cy="1417320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35424" y="212140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2447"/>
                </a:solidFill>
              </a:rPr>
              <a:t>S2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35424" y="2441448"/>
            <a:ext cx="1508760" cy="9052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83247"/>
                </a:solidFill>
              </a:rPr>
              <a:t>Pelvis Lock/Capture</a:t>
            </a:r>
            <a:endParaRPr lang="en-US" sz="960" dirty="0"/>
          </a:p>
        </p:txBody>
      </p:sp>
      <p:sp>
        <p:nvSpPr>
          <p:cNvPr id="19" name="Shape 17"/>
          <p:cNvSpPr/>
          <p:nvPr/>
        </p:nvSpPr>
        <p:spPr>
          <a:xfrm>
            <a:off x="6135624" y="2724912"/>
            <a:ext cx="137160" cy="0"/>
          </a:xfrm>
          <a:prstGeom prst="line">
            <a:avLst/>
          </a:prstGeom>
          <a:noFill/>
          <a:ln w="15240">
            <a:solidFill>
              <a:srgbClr val="425466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309360" y="2011680"/>
            <a:ext cx="176479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09360" y="2011680"/>
            <a:ext cx="64008" cy="1417320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73952" y="212140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2447"/>
                </a:solidFill>
              </a:rPr>
              <a:t>S3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73952" y="2441448"/>
            <a:ext cx="1508760" cy="9052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83247"/>
                </a:solidFill>
              </a:rPr>
              <a:t>Ride-Down</a:t>
            </a:r>
            <a:endParaRPr lang="en-US" sz="960" dirty="0"/>
          </a:p>
        </p:txBody>
      </p:sp>
      <p:sp>
        <p:nvSpPr>
          <p:cNvPr id="24" name="Shape 22"/>
          <p:cNvSpPr/>
          <p:nvPr/>
        </p:nvSpPr>
        <p:spPr>
          <a:xfrm>
            <a:off x="8074152" y="2724912"/>
            <a:ext cx="137160" cy="0"/>
          </a:xfrm>
          <a:prstGeom prst="line">
            <a:avLst/>
          </a:prstGeom>
          <a:noFill/>
          <a:ln w="15240">
            <a:solidFill>
              <a:srgbClr val="425466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247888" y="2011680"/>
            <a:ext cx="176479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47888" y="2011680"/>
            <a:ext cx="64008" cy="1417320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12480" y="212140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2447"/>
                </a:solidFill>
              </a:rPr>
              <a:t>S4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412480" y="2441448"/>
            <a:ext cx="1508760" cy="9052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83247"/>
                </a:solidFill>
              </a:rPr>
              <a:t>Rotation/Rebound</a:t>
            </a:r>
            <a:endParaRPr lang="en-US" sz="960" dirty="0"/>
          </a:p>
        </p:txBody>
      </p:sp>
      <p:sp>
        <p:nvSpPr>
          <p:cNvPr id="29" name="Shape 27"/>
          <p:cNvSpPr/>
          <p:nvPr/>
        </p:nvSpPr>
        <p:spPr>
          <a:xfrm>
            <a:off x="10012680" y="2724912"/>
            <a:ext cx="137160" cy="0"/>
          </a:xfrm>
          <a:prstGeom prst="line">
            <a:avLst/>
          </a:prstGeom>
          <a:noFill/>
          <a:ln w="15240">
            <a:solidFill>
              <a:srgbClr val="425466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10186416" y="2011680"/>
            <a:ext cx="176479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186416" y="2011680"/>
            <a:ext cx="64008" cy="1417320"/>
          </a:xfrm>
          <a:prstGeom prst="rect">
            <a:avLst/>
          </a:prstGeom>
          <a:solidFill>
            <a:srgbClr val="425466"/>
          </a:solidFill>
          <a:ln w="12700">
            <a:solidFill>
              <a:srgbClr val="42546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351008" y="212140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2447"/>
                </a:solidFill>
              </a:rPr>
              <a:t>S5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0351008" y="2441448"/>
            <a:ext cx="1508760" cy="9052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83247"/>
                </a:solidFill>
              </a:rPr>
              <a:t>Secure/Post-event</a:t>
            </a:r>
            <a:endParaRPr lang="en-US" sz="960" dirty="0"/>
          </a:p>
        </p:txBody>
      </p:sp>
      <p:sp>
        <p:nvSpPr>
          <p:cNvPr id="34" name="Shape 32"/>
          <p:cNvSpPr/>
          <p:nvPr/>
        </p:nvSpPr>
        <p:spPr>
          <a:xfrm>
            <a:off x="914400" y="3977640"/>
            <a:ext cx="315468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14400" y="3977640"/>
            <a:ext cx="64008" cy="987552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78992" y="4087368"/>
            <a:ext cx="2898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2447"/>
                </a:solidFill>
              </a:rPr>
              <a:t>Disclosed state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078992" y="4407408"/>
            <a:ext cx="2898648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83247"/>
                </a:solidFill>
              </a:rPr>
              <a:t>L1 functional state language.</a:t>
            </a:r>
            <a:endParaRPr lang="en-US" sz="880" dirty="0"/>
          </a:p>
        </p:txBody>
      </p:sp>
      <p:sp>
        <p:nvSpPr>
          <p:cNvPr id="38" name="Shape 36"/>
          <p:cNvSpPr/>
          <p:nvPr/>
        </p:nvSpPr>
        <p:spPr>
          <a:xfrm>
            <a:off x="4325112" y="3977640"/>
            <a:ext cx="315468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325112" y="3977640"/>
            <a:ext cx="64008" cy="987552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489704" y="4087368"/>
            <a:ext cx="2898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2447"/>
                </a:solidFill>
              </a:rPr>
              <a:t>Model state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489704" y="4407408"/>
            <a:ext cx="2898648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83247"/>
                </a:solidFill>
              </a:rPr>
              <a:t>May be represented in engineering models.</a:t>
            </a:r>
            <a:endParaRPr lang="en-US" sz="880" dirty="0"/>
          </a:p>
        </p:txBody>
      </p:sp>
      <p:sp>
        <p:nvSpPr>
          <p:cNvPr id="42" name="Shape 40"/>
          <p:cNvSpPr/>
          <p:nvPr/>
        </p:nvSpPr>
        <p:spPr>
          <a:xfrm>
            <a:off x="7735824" y="3977640"/>
            <a:ext cx="315468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735824" y="3977640"/>
            <a:ext cx="64008" cy="987552"/>
          </a:xfrm>
          <a:prstGeom prst="rect">
            <a:avLst/>
          </a:prstGeom>
          <a:solidFill>
            <a:srgbClr val="B23A3A"/>
          </a:solidFill>
          <a:ln w="12700">
            <a:solidFill>
              <a:srgbClr val="B23A3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900416" y="4087368"/>
            <a:ext cx="2898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2447"/>
                </a:solidFill>
              </a:rPr>
              <a:t>Physical / validated state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7900416" y="4407408"/>
            <a:ext cx="2898648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83247"/>
                </a:solidFill>
              </a:rPr>
              <a:t>Requires test evidence; not established here.</a:t>
            </a:r>
            <a:endParaRPr lang="en-US" sz="8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38404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7A75"/>
                </a:solidFill>
              </a:rPr>
              <a:t>WHY THIS APPROACH MAY JUSTIFY EVALUATION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12648" y="621792"/>
            <a:ext cx="10835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447"/>
                </a:solidFill>
              </a:rPr>
              <a:t>The evaluation case is evidence-oriented, not superiority-oriented.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30936" y="1207008"/>
            <a:ext cx="10561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25466"/>
                </a:solidFill>
              </a:rPr>
              <a:t>The question is whether the architecture creates a credible engineering opportunity worth bounded investigation.</a:t>
            </a:r>
            <a:endParaRPr lang="en-US" sz="1080" dirty="0"/>
          </a:p>
        </p:txBody>
      </p:sp>
      <p:sp>
        <p:nvSpPr>
          <p:cNvPr id="5" name="Shape 3"/>
          <p:cNvSpPr/>
          <p:nvPr/>
        </p:nvSpPr>
        <p:spPr>
          <a:xfrm>
            <a:off x="713232" y="1783080"/>
            <a:ext cx="24688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783080"/>
            <a:ext cx="64008" cy="658368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1892808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0B2447"/>
                </a:solidFill>
              </a:rPr>
              <a:t>Problem relevance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877824" y="2212848"/>
            <a:ext cx="2212848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83247"/>
                </a:solidFill>
              </a:rPr>
              <a:t>Dynamic coupled problem is meaningful to study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3200400" y="2112264"/>
            <a:ext cx="347472" cy="0"/>
          </a:xfrm>
          <a:prstGeom prst="line">
            <a:avLst/>
          </a:prstGeom>
          <a:noFill/>
          <a:ln w="12700">
            <a:solidFill>
              <a:srgbClr val="425466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13232" y="2532888"/>
            <a:ext cx="24688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3232" y="2532888"/>
            <a:ext cx="64008" cy="658368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7824" y="2642616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0B2447"/>
                </a:solidFill>
              </a:rPr>
              <a:t>Functional differentiation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877824" y="2962656"/>
            <a:ext cx="2212848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83247"/>
                </a:solidFill>
              </a:rPr>
              <a:t>System-level coordination of motion / load-path functions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3200400" y="2862072"/>
            <a:ext cx="347472" cy="0"/>
          </a:xfrm>
          <a:prstGeom prst="line">
            <a:avLst/>
          </a:prstGeom>
          <a:noFill/>
          <a:ln w="12700">
            <a:solidFill>
              <a:srgbClr val="425466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13232" y="3282696"/>
            <a:ext cx="24688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3232" y="3282696"/>
            <a:ext cx="64008" cy="658368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7824" y="3392424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0B2447"/>
                </a:solidFill>
              </a:rPr>
              <a:t>Testability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877824" y="3712464"/>
            <a:ext cx="2212848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83247"/>
                </a:solidFill>
              </a:rPr>
              <a:t>Clear observables can be defined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3200400" y="3611880"/>
            <a:ext cx="347472" cy="0"/>
          </a:xfrm>
          <a:prstGeom prst="line">
            <a:avLst/>
          </a:prstGeom>
          <a:noFill/>
          <a:ln w="12700">
            <a:solidFill>
              <a:srgbClr val="425466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13232" y="4032504"/>
            <a:ext cx="24688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3232" y="4032504"/>
            <a:ext cx="64008" cy="658368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77824" y="4142232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0B2447"/>
                </a:solidFill>
              </a:rPr>
              <a:t>Potential measurable value</a:t>
            </a:r>
            <a:endParaRPr lang="en-US" sz="1080" dirty="0"/>
          </a:p>
        </p:txBody>
      </p:sp>
      <p:sp>
        <p:nvSpPr>
          <p:cNvPr id="23" name="Text 21"/>
          <p:cNvSpPr/>
          <p:nvPr/>
        </p:nvSpPr>
        <p:spPr>
          <a:xfrm>
            <a:off x="877824" y="4462272"/>
            <a:ext cx="2212848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83247"/>
                </a:solidFill>
              </a:rPr>
              <a:t>Potentially measurable changes in motion / loads / timing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3200400" y="4361688"/>
            <a:ext cx="347472" cy="0"/>
          </a:xfrm>
          <a:prstGeom prst="line">
            <a:avLst/>
          </a:prstGeom>
          <a:noFill/>
          <a:ln w="12700">
            <a:solidFill>
              <a:srgbClr val="425466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13232" y="4782312"/>
            <a:ext cx="24688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13232" y="4782312"/>
            <a:ext cx="64008" cy="658368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77824" y="4892040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0B2447"/>
                </a:solidFill>
              </a:rPr>
              <a:t>Development path</a:t>
            </a:r>
            <a:endParaRPr lang="en-US" sz="1080" dirty="0"/>
          </a:p>
        </p:txBody>
      </p:sp>
      <p:sp>
        <p:nvSpPr>
          <p:cNvPr id="28" name="Text 26"/>
          <p:cNvSpPr/>
          <p:nvPr/>
        </p:nvSpPr>
        <p:spPr>
          <a:xfrm>
            <a:off x="877824" y="5212080"/>
            <a:ext cx="2212848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83247"/>
                </a:solidFill>
              </a:rPr>
              <a:t>Evidence-gated progression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3200400" y="5111496"/>
            <a:ext cx="347472" cy="0"/>
          </a:xfrm>
          <a:prstGeom prst="line">
            <a:avLst/>
          </a:prstGeom>
          <a:noFill/>
          <a:ln w="12700">
            <a:solidFill>
              <a:srgbClr val="425466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13232" y="5532120"/>
            <a:ext cx="24688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13232" y="5532120"/>
            <a:ext cx="64008" cy="658368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77824" y="5641848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0B2447"/>
                </a:solidFill>
              </a:rPr>
              <a:t>Transparency</a:t>
            </a:r>
            <a:endParaRPr lang="en-US" sz="1080" dirty="0"/>
          </a:p>
        </p:txBody>
      </p:sp>
      <p:sp>
        <p:nvSpPr>
          <p:cNvPr id="33" name="Text 31"/>
          <p:cNvSpPr/>
          <p:nvPr/>
        </p:nvSpPr>
        <p:spPr>
          <a:xfrm>
            <a:off x="877824" y="5961888"/>
            <a:ext cx="2212848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83247"/>
                </a:solidFill>
              </a:rPr>
              <a:t>Open gaps and fail-closed rules</a:t>
            </a:r>
            <a:endParaRPr lang="en-US" sz="820" dirty="0"/>
          </a:p>
        </p:txBody>
      </p:sp>
      <p:sp>
        <p:nvSpPr>
          <p:cNvPr id="34" name="Shape 32"/>
          <p:cNvSpPr/>
          <p:nvPr/>
        </p:nvSpPr>
        <p:spPr>
          <a:xfrm>
            <a:off x="3886200" y="1828800"/>
            <a:ext cx="365760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886200" y="1828800"/>
            <a:ext cx="64008" cy="3520440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050792" y="1938528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2447"/>
                </a:solidFill>
              </a:rPr>
              <a:t>Company evaluation logic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050792" y="2258568"/>
            <a:ext cx="3401568" cy="3008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83247"/>
                </a:solidFill>
              </a:rPr>
              <a:t>A company may justify evaluation when it can:</a:t>
            </a:r>
            <a:endParaRPr lang="en-US" sz="1030" dirty="0"/>
          </a:p>
          <a:p>
            <a:pPr indent="0" marL="0">
              <a:buNone/>
            </a:pP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183247"/>
                </a:solidFill>
              </a:rPr>
              <a:t>• answer a bounded technical question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183247"/>
                </a:solidFill>
              </a:rPr>
              <a:t>• identify the required evidence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183247"/>
                </a:solidFill>
              </a:rPr>
              <a:t>• define an entry criterion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183247"/>
                </a:solidFill>
              </a:rPr>
              <a:t>• produce a measurable deliverable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183247"/>
                </a:solidFill>
              </a:rPr>
              <a:t>• state what would make it continue or stop</a:t>
            </a:r>
            <a:endParaRPr lang="en-US" sz="1030" dirty="0"/>
          </a:p>
        </p:txBody>
      </p:sp>
      <p:sp>
        <p:nvSpPr>
          <p:cNvPr id="38" name="Shape 36"/>
          <p:cNvSpPr/>
          <p:nvPr/>
        </p:nvSpPr>
        <p:spPr>
          <a:xfrm>
            <a:off x="7818120" y="1828800"/>
            <a:ext cx="3520440" cy="3520440"/>
          </a:xfrm>
          <a:prstGeom prst="roundRect">
            <a:avLst>
              <a:gd name="adj" fmla="val 2078"/>
            </a:avLst>
          </a:prstGeom>
          <a:solidFill>
            <a:srgbClr val="FFF6D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818120" y="1828800"/>
            <a:ext cx="64008" cy="3520440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82712" y="1938528"/>
            <a:ext cx="3264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2447"/>
                </a:solidFill>
              </a:rPr>
              <a:t>Not the claim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7982712" y="2258568"/>
            <a:ext cx="3264408" cy="3008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83247"/>
                </a:solidFill>
              </a:rPr>
              <a:t>Not “best solution”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83247"/>
                </a:solidFill>
              </a:rPr>
              <a:t>Not “guaranteed improvement”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83247"/>
                </a:solidFill>
              </a:rPr>
              <a:t>Not “proven safety”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83247"/>
                </a:solidFill>
              </a:rPr>
              <a:t>Not “will attract buyers”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83247"/>
                </a:solidFill>
              </a:rPr>
              <a:t>Use: MAY JUSTIFY EVALUATION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38404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7A75"/>
                </a:solidFill>
              </a:rPr>
              <a:t>WHAT WE WANT TO MEASURE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12648" y="621792"/>
            <a:ext cx="10835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447"/>
                </a:solidFill>
              </a:rPr>
              <a:t>Observables are targets for evidence — not current T-OCS results.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30936" y="1207008"/>
            <a:ext cx="10561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25466"/>
                </a:solidFill>
              </a:rPr>
              <a:t>A useful Phase-1 discussion starts with measurable outputs rather than marketing metrics.</a:t>
            </a:r>
            <a:endParaRPr lang="en-US" sz="1080" dirty="0"/>
          </a:p>
        </p:txBody>
      </p:sp>
      <p:sp>
        <p:nvSpPr>
          <p:cNvPr id="5" name="Shape 3"/>
          <p:cNvSpPr/>
          <p:nvPr/>
        </p:nvSpPr>
        <p:spPr>
          <a:xfrm>
            <a:off x="713232" y="1737360"/>
            <a:ext cx="50749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737360"/>
            <a:ext cx="64008" cy="640080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1847088"/>
            <a:ext cx="4818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0B2447"/>
                </a:solidFill>
              </a:rPr>
              <a:t>Seat motion</a:t>
            </a:r>
            <a:endParaRPr lang="en-US" sz="1120" dirty="0"/>
          </a:p>
        </p:txBody>
      </p:sp>
      <p:sp>
        <p:nvSpPr>
          <p:cNvPr id="8" name="Text 6"/>
          <p:cNvSpPr/>
          <p:nvPr/>
        </p:nvSpPr>
        <p:spPr>
          <a:xfrm>
            <a:off x="877824" y="2167128"/>
            <a:ext cx="4818888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83247"/>
                </a:solidFill>
              </a:rPr>
              <a:t>displacement • velocity • acceleration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053328" y="1737360"/>
            <a:ext cx="5138928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53328" y="1737360"/>
            <a:ext cx="64008" cy="640080"/>
          </a:xfrm>
          <a:prstGeom prst="rect">
            <a:avLst/>
          </a:prstGeom>
          <a:solidFill>
            <a:srgbClr val="425466"/>
          </a:solidFill>
          <a:ln w="12700">
            <a:solidFill>
              <a:srgbClr val="4254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1847088"/>
            <a:ext cx="4882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0B2447"/>
                </a:solidFill>
              </a:rPr>
              <a:t>Evidence status</a:t>
            </a:r>
            <a:endParaRPr lang="en-US" sz="1120" dirty="0"/>
          </a:p>
        </p:txBody>
      </p:sp>
      <p:sp>
        <p:nvSpPr>
          <p:cNvPr id="12" name="Text 10"/>
          <p:cNvSpPr/>
          <p:nvPr/>
        </p:nvSpPr>
        <p:spPr>
          <a:xfrm>
            <a:off x="6217920" y="2167128"/>
            <a:ext cx="4882896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83247"/>
                </a:solidFill>
              </a:rPr>
              <a:t>Target observable — NOT a current result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713232" y="2487168"/>
            <a:ext cx="50749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3232" y="2487168"/>
            <a:ext cx="64008" cy="640080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7824" y="2596896"/>
            <a:ext cx="4818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0B2447"/>
                </a:solidFill>
              </a:rPr>
              <a:t>Seatback</a:t>
            </a:r>
            <a:endParaRPr lang="en-US" sz="1120" dirty="0"/>
          </a:p>
        </p:txBody>
      </p:sp>
      <p:sp>
        <p:nvSpPr>
          <p:cNvPr id="16" name="Text 14"/>
          <p:cNvSpPr/>
          <p:nvPr/>
        </p:nvSpPr>
        <p:spPr>
          <a:xfrm>
            <a:off x="877824" y="2916936"/>
            <a:ext cx="4818888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83247"/>
                </a:solidFill>
              </a:rPr>
              <a:t>angle • angular rate / acceleration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053328" y="2487168"/>
            <a:ext cx="5138928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53328" y="2487168"/>
            <a:ext cx="64008" cy="640080"/>
          </a:xfrm>
          <a:prstGeom prst="rect">
            <a:avLst/>
          </a:prstGeom>
          <a:solidFill>
            <a:srgbClr val="425466"/>
          </a:solidFill>
          <a:ln w="12700">
            <a:solidFill>
              <a:srgbClr val="4254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2596896"/>
            <a:ext cx="4882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0B2447"/>
                </a:solidFill>
              </a:rPr>
              <a:t>Evidence status</a:t>
            </a:r>
            <a:endParaRPr lang="en-US" sz="1120" dirty="0"/>
          </a:p>
        </p:txBody>
      </p:sp>
      <p:sp>
        <p:nvSpPr>
          <p:cNvPr id="20" name="Text 18"/>
          <p:cNvSpPr/>
          <p:nvPr/>
        </p:nvSpPr>
        <p:spPr>
          <a:xfrm>
            <a:off x="6217920" y="2916936"/>
            <a:ext cx="4882896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83247"/>
                </a:solidFill>
              </a:rPr>
              <a:t>Target observable — NOT a current result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713232" y="3236976"/>
            <a:ext cx="50749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3232" y="3236976"/>
            <a:ext cx="64008" cy="640080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77824" y="3346704"/>
            <a:ext cx="4818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0B2447"/>
                </a:solidFill>
              </a:rPr>
              <a:t>Structure</a:t>
            </a:r>
            <a:endParaRPr lang="en-US" sz="1120" dirty="0"/>
          </a:p>
        </p:txBody>
      </p:sp>
      <p:sp>
        <p:nvSpPr>
          <p:cNvPr id="24" name="Text 22"/>
          <p:cNvSpPr/>
          <p:nvPr/>
        </p:nvSpPr>
        <p:spPr>
          <a:xfrm>
            <a:off x="877824" y="3666744"/>
            <a:ext cx="4818888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83247"/>
                </a:solidFill>
              </a:rPr>
              <a:t>reactions • load transfer • asymmetry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053328" y="3236976"/>
            <a:ext cx="5138928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53328" y="3236976"/>
            <a:ext cx="64008" cy="640080"/>
          </a:xfrm>
          <a:prstGeom prst="rect">
            <a:avLst/>
          </a:prstGeom>
          <a:solidFill>
            <a:srgbClr val="425466"/>
          </a:solidFill>
          <a:ln w="12700">
            <a:solidFill>
              <a:srgbClr val="42546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3346704"/>
            <a:ext cx="4882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0B2447"/>
                </a:solidFill>
              </a:rPr>
              <a:t>Evidence status</a:t>
            </a:r>
            <a:endParaRPr lang="en-US" sz="1120" dirty="0"/>
          </a:p>
        </p:txBody>
      </p:sp>
      <p:sp>
        <p:nvSpPr>
          <p:cNvPr id="28" name="Text 26"/>
          <p:cNvSpPr/>
          <p:nvPr/>
        </p:nvSpPr>
        <p:spPr>
          <a:xfrm>
            <a:off x="6217920" y="3666744"/>
            <a:ext cx="4882896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83247"/>
                </a:solidFill>
              </a:rPr>
              <a:t>Target observable — NOT a current result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713232" y="3986784"/>
            <a:ext cx="50749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13232" y="3986784"/>
            <a:ext cx="64008" cy="640080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77824" y="4096512"/>
            <a:ext cx="4818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0B2447"/>
                </a:solidFill>
              </a:rPr>
              <a:t>Occupant</a:t>
            </a:r>
            <a:endParaRPr lang="en-US" sz="1120" dirty="0"/>
          </a:p>
        </p:txBody>
      </p:sp>
      <p:sp>
        <p:nvSpPr>
          <p:cNvPr id="32" name="Text 30"/>
          <p:cNvSpPr/>
          <p:nvPr/>
        </p:nvSpPr>
        <p:spPr>
          <a:xfrm>
            <a:off x="877824" y="4416552"/>
            <a:ext cx="4818888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83247"/>
                </a:solidFill>
              </a:rPr>
              <a:t>trajectory • relative motion • contact timing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053328" y="3986784"/>
            <a:ext cx="5138928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053328" y="3986784"/>
            <a:ext cx="64008" cy="640080"/>
          </a:xfrm>
          <a:prstGeom prst="rect">
            <a:avLst/>
          </a:prstGeom>
          <a:solidFill>
            <a:srgbClr val="425466"/>
          </a:solidFill>
          <a:ln w="12700">
            <a:solidFill>
              <a:srgbClr val="42546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17920" y="4096512"/>
            <a:ext cx="4882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0B2447"/>
                </a:solidFill>
              </a:rPr>
              <a:t>Evidence status</a:t>
            </a:r>
            <a:endParaRPr lang="en-US" sz="1120" dirty="0"/>
          </a:p>
        </p:txBody>
      </p:sp>
      <p:sp>
        <p:nvSpPr>
          <p:cNvPr id="36" name="Text 34"/>
          <p:cNvSpPr/>
          <p:nvPr/>
        </p:nvSpPr>
        <p:spPr>
          <a:xfrm>
            <a:off x="6217920" y="4416552"/>
            <a:ext cx="4882896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83247"/>
                </a:solidFill>
              </a:rPr>
              <a:t>Target observable — NOT a current result</a:t>
            </a:r>
            <a:endParaRPr lang="en-US" sz="880" dirty="0"/>
          </a:p>
        </p:txBody>
      </p:sp>
      <p:sp>
        <p:nvSpPr>
          <p:cNvPr id="37" name="Shape 35"/>
          <p:cNvSpPr/>
          <p:nvPr/>
        </p:nvSpPr>
        <p:spPr>
          <a:xfrm>
            <a:off x="713232" y="4736592"/>
            <a:ext cx="50749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13232" y="4736592"/>
            <a:ext cx="64008" cy="640080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77824" y="4846320"/>
            <a:ext cx="4818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0B2447"/>
                </a:solidFill>
              </a:rPr>
              <a:t>Restraint</a:t>
            </a:r>
            <a:endParaRPr lang="en-US" sz="1120" dirty="0"/>
          </a:p>
        </p:txBody>
      </p:sp>
      <p:sp>
        <p:nvSpPr>
          <p:cNvPr id="40" name="Text 38"/>
          <p:cNvSpPr/>
          <p:nvPr/>
        </p:nvSpPr>
        <p:spPr>
          <a:xfrm>
            <a:off x="877824" y="5166360"/>
            <a:ext cx="4818888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83247"/>
                </a:solidFill>
              </a:rPr>
              <a:t>timing • load history • geometry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053328" y="4736592"/>
            <a:ext cx="5138928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053328" y="4736592"/>
            <a:ext cx="64008" cy="640080"/>
          </a:xfrm>
          <a:prstGeom prst="rect">
            <a:avLst/>
          </a:prstGeom>
          <a:solidFill>
            <a:srgbClr val="425466"/>
          </a:solidFill>
          <a:ln w="12700">
            <a:solidFill>
              <a:srgbClr val="42546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17920" y="4846320"/>
            <a:ext cx="4882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0B2447"/>
                </a:solidFill>
              </a:rPr>
              <a:t>Evidence status</a:t>
            </a:r>
            <a:endParaRPr lang="en-US" sz="1120" dirty="0"/>
          </a:p>
        </p:txBody>
      </p:sp>
      <p:sp>
        <p:nvSpPr>
          <p:cNvPr id="44" name="Text 42"/>
          <p:cNvSpPr/>
          <p:nvPr/>
        </p:nvSpPr>
        <p:spPr>
          <a:xfrm>
            <a:off x="6217920" y="5166360"/>
            <a:ext cx="4882896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83247"/>
                </a:solidFill>
              </a:rPr>
              <a:t>Target observable — NOT a current result</a:t>
            </a:r>
            <a:endParaRPr lang="en-US" sz="880" dirty="0"/>
          </a:p>
        </p:txBody>
      </p:sp>
      <p:sp>
        <p:nvSpPr>
          <p:cNvPr id="45" name="Shape 43"/>
          <p:cNvSpPr/>
          <p:nvPr/>
        </p:nvSpPr>
        <p:spPr>
          <a:xfrm>
            <a:off x="713232" y="5486400"/>
            <a:ext cx="50749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13232" y="5486400"/>
            <a:ext cx="64008" cy="640080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77824" y="5596128"/>
            <a:ext cx="4818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0B2447"/>
                </a:solidFill>
              </a:rPr>
              <a:t>Components</a:t>
            </a:r>
            <a:endParaRPr lang="en-US" sz="1120" dirty="0"/>
          </a:p>
        </p:txBody>
      </p:sp>
      <p:sp>
        <p:nvSpPr>
          <p:cNvPr id="48" name="Text 46"/>
          <p:cNvSpPr/>
          <p:nvPr/>
        </p:nvSpPr>
        <p:spPr>
          <a:xfrm>
            <a:off x="877824" y="5916168"/>
            <a:ext cx="4818888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83247"/>
                </a:solidFill>
              </a:rPr>
              <a:t>force–displacement • energy • rebound behavior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053328" y="5486400"/>
            <a:ext cx="5138928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053328" y="5486400"/>
            <a:ext cx="64008" cy="640080"/>
          </a:xfrm>
          <a:prstGeom prst="rect">
            <a:avLst/>
          </a:prstGeom>
          <a:solidFill>
            <a:srgbClr val="425466"/>
          </a:solidFill>
          <a:ln w="12700">
            <a:solidFill>
              <a:srgbClr val="42546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217920" y="5596128"/>
            <a:ext cx="4882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0B2447"/>
                </a:solidFill>
              </a:rPr>
              <a:t>Evidence status</a:t>
            </a:r>
            <a:endParaRPr lang="en-US" sz="1120" dirty="0"/>
          </a:p>
        </p:txBody>
      </p:sp>
      <p:sp>
        <p:nvSpPr>
          <p:cNvPr id="52" name="Text 50"/>
          <p:cNvSpPr/>
          <p:nvPr/>
        </p:nvSpPr>
        <p:spPr>
          <a:xfrm>
            <a:off x="6217920" y="5916168"/>
            <a:ext cx="4882896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83247"/>
                </a:solidFill>
              </a:rPr>
              <a:t>Target observable — NOT a current result</a:t>
            </a:r>
            <a:endParaRPr lang="en-US" sz="8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38404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7A75"/>
                </a:solidFill>
              </a:rPr>
              <a:t>CURRENT ENGINEERING STAGE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12648" y="621792"/>
            <a:ext cx="10835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447"/>
                </a:solidFill>
              </a:rPr>
              <a:t>Controlled reconstruction baseline — not a product release.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30936" y="1207008"/>
            <a:ext cx="10561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25466"/>
                </a:solidFill>
              </a:rPr>
              <a:t>The current evidence base supports engineering discussion, not production or safety conclusions.</a:t>
            </a:r>
            <a:endParaRPr lang="en-US" sz="1080" dirty="0"/>
          </a:p>
        </p:txBody>
      </p:sp>
      <p:sp>
        <p:nvSpPr>
          <p:cNvPr id="5" name="Shape 3"/>
          <p:cNvSpPr/>
          <p:nvPr/>
        </p:nvSpPr>
        <p:spPr>
          <a:xfrm>
            <a:off x="694944" y="1737360"/>
            <a:ext cx="5166360" cy="658368"/>
          </a:xfrm>
          <a:prstGeom prst="roundRect">
            <a:avLst>
              <a:gd name="adj" fmla="val 11111"/>
            </a:avLst>
          </a:prstGeom>
          <a:solidFill>
            <a:srgbClr val="F0F8F4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4944" y="1737360"/>
            <a:ext cx="64008" cy="658368"/>
          </a:xfrm>
          <a:prstGeom prst="rect">
            <a:avLst/>
          </a:prstGeom>
          <a:solidFill>
            <a:srgbClr val="1F7A5C"/>
          </a:solidFill>
          <a:ln w="12700">
            <a:solidFill>
              <a:srgbClr val="1F7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1847088"/>
            <a:ext cx="4910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0B2447"/>
                </a:solidFill>
              </a:rPr>
              <a:t>Controlled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859536" y="2167128"/>
            <a:ext cx="4910328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83247"/>
                </a:solidFill>
              </a:rPr>
              <a:t>Functional architecture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94944" y="2487168"/>
            <a:ext cx="5166360" cy="658368"/>
          </a:xfrm>
          <a:prstGeom prst="roundRect">
            <a:avLst>
              <a:gd name="adj" fmla="val 11111"/>
            </a:avLst>
          </a:prstGeom>
          <a:solidFill>
            <a:srgbClr val="F0F8F4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4944" y="2487168"/>
            <a:ext cx="64008" cy="658368"/>
          </a:xfrm>
          <a:prstGeom prst="rect">
            <a:avLst/>
          </a:prstGeom>
          <a:solidFill>
            <a:srgbClr val="1F7A5C"/>
          </a:solidFill>
          <a:ln w="12700">
            <a:solidFill>
              <a:srgbClr val="1F7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" y="2596896"/>
            <a:ext cx="4910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0B2447"/>
                </a:solidFill>
              </a:rPr>
              <a:t>Controlled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859536" y="2916936"/>
            <a:ext cx="4910328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83247"/>
                </a:solidFill>
              </a:rPr>
              <a:t>Engineering intent / requirements framework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94944" y="3236976"/>
            <a:ext cx="5166360" cy="658368"/>
          </a:xfrm>
          <a:prstGeom prst="roundRect">
            <a:avLst>
              <a:gd name="adj" fmla="val 11111"/>
            </a:avLst>
          </a:prstGeom>
          <a:solidFill>
            <a:srgbClr val="F0F8F4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4944" y="3236976"/>
            <a:ext cx="64008" cy="658368"/>
          </a:xfrm>
          <a:prstGeom prst="rect">
            <a:avLst/>
          </a:prstGeom>
          <a:solidFill>
            <a:srgbClr val="1F7A5C"/>
          </a:solidFill>
          <a:ln w="12700">
            <a:solidFill>
              <a:srgbClr val="1F7A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9536" y="3346704"/>
            <a:ext cx="4910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0B2447"/>
                </a:solidFill>
              </a:rPr>
              <a:t>Controlled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859536" y="3666744"/>
            <a:ext cx="4910328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83247"/>
                </a:solidFill>
              </a:rPr>
              <a:t>Controlled reconstruction / model artifacts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94944" y="3986784"/>
            <a:ext cx="5166360" cy="658368"/>
          </a:xfrm>
          <a:prstGeom prst="roundRect">
            <a:avLst>
              <a:gd name="adj" fmla="val 11111"/>
            </a:avLst>
          </a:prstGeom>
          <a:solidFill>
            <a:srgbClr val="F0F8F4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94944" y="3986784"/>
            <a:ext cx="64008" cy="658368"/>
          </a:xfrm>
          <a:prstGeom prst="rect">
            <a:avLst/>
          </a:prstGeom>
          <a:solidFill>
            <a:srgbClr val="1F7A5C"/>
          </a:solidFill>
          <a:ln w="12700">
            <a:solidFill>
              <a:srgbClr val="1F7A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9536" y="4096512"/>
            <a:ext cx="4910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0B2447"/>
                </a:solidFill>
              </a:rPr>
              <a:t>Controlled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859536" y="4416552"/>
            <a:ext cx="4910328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83247"/>
                </a:solidFill>
              </a:rPr>
              <a:t>Evidence and change-control rules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245352" y="1737360"/>
            <a:ext cx="5166360" cy="658368"/>
          </a:xfrm>
          <a:prstGeom prst="roundRect">
            <a:avLst>
              <a:gd name="adj" fmla="val 11111"/>
            </a:avLst>
          </a:prstGeom>
          <a:solidFill>
            <a:srgbClr val="FDECEC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45352" y="1737360"/>
            <a:ext cx="64008" cy="658368"/>
          </a:xfrm>
          <a:prstGeom prst="rect">
            <a:avLst/>
          </a:prstGeom>
          <a:solidFill>
            <a:srgbClr val="B23A3A"/>
          </a:solidFill>
          <a:ln w="12700">
            <a:solidFill>
              <a:srgbClr val="B23A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9944" y="1847088"/>
            <a:ext cx="4910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0B2447"/>
                </a:solidFill>
              </a:rPr>
              <a:t>Not yet proven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6409944" y="2167128"/>
            <a:ext cx="4910328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83247"/>
                </a:solidFill>
              </a:rPr>
              <a:t>Physical validation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245352" y="2487168"/>
            <a:ext cx="5166360" cy="658368"/>
          </a:xfrm>
          <a:prstGeom prst="roundRect">
            <a:avLst>
              <a:gd name="adj" fmla="val 11111"/>
            </a:avLst>
          </a:prstGeom>
          <a:solidFill>
            <a:srgbClr val="FDECEC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45352" y="2487168"/>
            <a:ext cx="64008" cy="658368"/>
          </a:xfrm>
          <a:prstGeom prst="rect">
            <a:avLst/>
          </a:prstGeom>
          <a:solidFill>
            <a:srgbClr val="B23A3A"/>
          </a:solidFill>
          <a:ln w="12700">
            <a:solidFill>
              <a:srgbClr val="B23A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9944" y="2596896"/>
            <a:ext cx="4910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0B2447"/>
                </a:solidFill>
              </a:rPr>
              <a:t>Not yet proven</a:t>
            </a:r>
            <a:endParaRPr lang="en-US" sz="1080" dirty="0"/>
          </a:p>
        </p:txBody>
      </p:sp>
      <p:sp>
        <p:nvSpPr>
          <p:cNvPr id="28" name="Text 26"/>
          <p:cNvSpPr/>
          <p:nvPr/>
        </p:nvSpPr>
        <p:spPr>
          <a:xfrm>
            <a:off x="6409944" y="2916936"/>
            <a:ext cx="4910328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83247"/>
                </a:solidFill>
              </a:rPr>
              <a:t>Final manufacturability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245352" y="3236976"/>
            <a:ext cx="5166360" cy="658368"/>
          </a:xfrm>
          <a:prstGeom prst="roundRect">
            <a:avLst>
              <a:gd name="adj" fmla="val 11111"/>
            </a:avLst>
          </a:prstGeom>
          <a:solidFill>
            <a:srgbClr val="FDECEC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45352" y="3236976"/>
            <a:ext cx="64008" cy="658368"/>
          </a:xfrm>
          <a:prstGeom prst="rect">
            <a:avLst/>
          </a:prstGeom>
          <a:solidFill>
            <a:srgbClr val="B23A3A"/>
          </a:solidFill>
          <a:ln w="12700">
            <a:solidFill>
              <a:srgbClr val="B23A3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9944" y="3346704"/>
            <a:ext cx="4910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0B2447"/>
                </a:solidFill>
              </a:rPr>
              <a:t>Not yet proven</a:t>
            </a:r>
            <a:endParaRPr lang="en-US" sz="1080" dirty="0"/>
          </a:p>
        </p:txBody>
      </p:sp>
      <p:sp>
        <p:nvSpPr>
          <p:cNvPr id="32" name="Text 30"/>
          <p:cNvSpPr/>
          <p:nvPr/>
        </p:nvSpPr>
        <p:spPr>
          <a:xfrm>
            <a:off x="6409944" y="3666744"/>
            <a:ext cx="4910328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83247"/>
                </a:solidFill>
              </a:rPr>
              <a:t>Final material / fastener closure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245352" y="3986784"/>
            <a:ext cx="5166360" cy="658368"/>
          </a:xfrm>
          <a:prstGeom prst="roundRect">
            <a:avLst>
              <a:gd name="adj" fmla="val 11111"/>
            </a:avLst>
          </a:prstGeom>
          <a:solidFill>
            <a:srgbClr val="FDECEC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45352" y="3986784"/>
            <a:ext cx="64008" cy="658368"/>
          </a:xfrm>
          <a:prstGeom prst="rect">
            <a:avLst/>
          </a:prstGeom>
          <a:solidFill>
            <a:srgbClr val="B23A3A"/>
          </a:solidFill>
          <a:ln w="12700">
            <a:solidFill>
              <a:srgbClr val="B23A3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9944" y="4096512"/>
            <a:ext cx="4910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0B2447"/>
                </a:solidFill>
              </a:rPr>
              <a:t>Not yet proven</a:t>
            </a:r>
            <a:endParaRPr lang="en-US" sz="1080" dirty="0"/>
          </a:p>
        </p:txBody>
      </p:sp>
      <p:sp>
        <p:nvSpPr>
          <p:cNvPr id="36" name="Text 34"/>
          <p:cNvSpPr/>
          <p:nvPr/>
        </p:nvSpPr>
        <p:spPr>
          <a:xfrm>
            <a:off x="6409944" y="4416552"/>
            <a:ext cx="4910328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83247"/>
                </a:solidFill>
              </a:rPr>
              <a:t>Absorber / lock / rebound validation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245352" y="4736592"/>
            <a:ext cx="5166360" cy="658368"/>
          </a:xfrm>
          <a:prstGeom prst="roundRect">
            <a:avLst>
              <a:gd name="adj" fmla="val 11111"/>
            </a:avLst>
          </a:prstGeom>
          <a:solidFill>
            <a:srgbClr val="FDECEC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245352" y="4736592"/>
            <a:ext cx="64008" cy="658368"/>
          </a:xfrm>
          <a:prstGeom prst="rect">
            <a:avLst/>
          </a:prstGeom>
          <a:solidFill>
            <a:srgbClr val="B23A3A"/>
          </a:solidFill>
          <a:ln w="12700">
            <a:solidFill>
              <a:srgbClr val="B23A3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9944" y="4846320"/>
            <a:ext cx="4910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0B2447"/>
                </a:solidFill>
              </a:rPr>
              <a:t>Not yet proven</a:t>
            </a:r>
            <a:endParaRPr lang="en-US" sz="1080" dirty="0"/>
          </a:p>
        </p:txBody>
      </p:sp>
      <p:sp>
        <p:nvSpPr>
          <p:cNvPr id="40" name="Text 38"/>
          <p:cNvSpPr/>
          <p:nvPr/>
        </p:nvSpPr>
        <p:spPr>
          <a:xfrm>
            <a:off x="6409944" y="5166360"/>
            <a:ext cx="4910328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83247"/>
                </a:solidFill>
              </a:rPr>
              <a:t>Production readiness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914400" y="5623560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447"/>
                </a:solidFill>
              </a:rPr>
              <a:t>Current V7 classification: research / engineering reconstruction baseline.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38404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7A75"/>
                </a:solidFill>
              </a:rPr>
              <a:t>EXISTING EVIDENCE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12648" y="621792"/>
            <a:ext cx="10835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447"/>
                </a:solidFill>
              </a:rPr>
              <a:t>Evidence classes are kept separate.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30936" y="1207008"/>
            <a:ext cx="10561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25466"/>
                </a:solidFill>
              </a:rPr>
              <a:t>This prevents source studies, design intent and model outputs from becoming “T-OCS results” by accident.</a:t>
            </a:r>
            <a:endParaRPr lang="en-US" sz="1080" dirty="0"/>
          </a:p>
        </p:txBody>
      </p:sp>
      <p:sp>
        <p:nvSpPr>
          <p:cNvPr id="5" name="Shape 3"/>
          <p:cNvSpPr/>
          <p:nvPr/>
        </p:nvSpPr>
        <p:spPr>
          <a:xfrm>
            <a:off x="685800" y="1737360"/>
            <a:ext cx="24688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737360"/>
            <a:ext cx="64008" cy="713232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847088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0B2447"/>
                </a:solidFill>
              </a:rPr>
              <a:t>Source-derived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850392" y="2167128"/>
            <a:ext cx="2212848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83247"/>
                </a:solidFill>
              </a:rPr>
              <a:t>V7/V6 disclosure material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3337560" y="1737360"/>
            <a:ext cx="38862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7560" y="1737360"/>
            <a:ext cx="64008" cy="713232"/>
          </a:xfrm>
          <a:prstGeom prst="rect">
            <a:avLst/>
          </a:prstGeom>
          <a:solidFill>
            <a:srgbClr val="425466"/>
          </a:solidFill>
          <a:ln w="12700">
            <a:solidFill>
              <a:srgbClr val="4254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02152" y="1847088"/>
            <a:ext cx="3630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0B2447"/>
                </a:solidFill>
              </a:rPr>
              <a:t>Support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3502152" y="2167128"/>
            <a:ext cx="3630168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83247"/>
                </a:solidFill>
              </a:rPr>
              <a:t>Problem / architecture framing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7406640" y="1737360"/>
            <a:ext cx="39776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06640" y="1737360"/>
            <a:ext cx="64008" cy="713232"/>
          </a:xfrm>
          <a:prstGeom prst="rect">
            <a:avLst/>
          </a:prstGeom>
          <a:solidFill>
            <a:srgbClr val="425466"/>
          </a:solidFill>
          <a:ln w="12700">
            <a:solidFill>
              <a:srgbClr val="4254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71232" y="1847088"/>
            <a:ext cx="3721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0B2447"/>
                </a:solidFill>
              </a:rPr>
              <a:t>Classification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7571232" y="2167128"/>
            <a:ext cx="3721608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83247"/>
                </a:solidFill>
              </a:rPr>
              <a:t>Do not promote beyond this class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685800" y="2560320"/>
            <a:ext cx="24688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" y="2560320"/>
            <a:ext cx="64008" cy="713232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0392" y="2670048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0B2447"/>
                </a:solidFill>
              </a:rPr>
              <a:t>Design intent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850392" y="2990088"/>
            <a:ext cx="2212848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83247"/>
                </a:solidFill>
              </a:rPr>
              <a:t>Functional decomposition + controlled interfaces</a:t>
            </a:r>
            <a:endParaRPr lang="en-US" sz="820" dirty="0"/>
          </a:p>
        </p:txBody>
      </p:sp>
      <p:sp>
        <p:nvSpPr>
          <p:cNvPr id="21" name="Shape 19"/>
          <p:cNvSpPr/>
          <p:nvPr/>
        </p:nvSpPr>
        <p:spPr>
          <a:xfrm>
            <a:off x="3337560" y="2560320"/>
            <a:ext cx="38862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37560" y="2560320"/>
            <a:ext cx="64008" cy="713232"/>
          </a:xfrm>
          <a:prstGeom prst="rect">
            <a:avLst/>
          </a:prstGeom>
          <a:solidFill>
            <a:srgbClr val="425466"/>
          </a:solidFill>
          <a:ln w="12700">
            <a:solidFill>
              <a:srgbClr val="42546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02152" y="2670048"/>
            <a:ext cx="3630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0B2447"/>
                </a:solidFill>
              </a:rPr>
              <a:t>Support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3502152" y="2990088"/>
            <a:ext cx="3630168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83247"/>
                </a:solidFill>
              </a:rPr>
              <a:t>What the system is intended to do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7406640" y="2560320"/>
            <a:ext cx="39776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06640" y="2560320"/>
            <a:ext cx="64008" cy="713232"/>
          </a:xfrm>
          <a:prstGeom prst="rect">
            <a:avLst/>
          </a:prstGeom>
          <a:solidFill>
            <a:srgbClr val="425466"/>
          </a:solidFill>
          <a:ln w="12700">
            <a:solidFill>
              <a:srgbClr val="42546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71232" y="2670048"/>
            <a:ext cx="3721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0B2447"/>
                </a:solidFill>
              </a:rPr>
              <a:t>Classification</a:t>
            </a:r>
            <a:endParaRPr lang="en-US" sz="1080" dirty="0"/>
          </a:p>
        </p:txBody>
      </p:sp>
      <p:sp>
        <p:nvSpPr>
          <p:cNvPr id="28" name="Text 26"/>
          <p:cNvSpPr/>
          <p:nvPr/>
        </p:nvSpPr>
        <p:spPr>
          <a:xfrm>
            <a:off x="7571232" y="2990088"/>
            <a:ext cx="3721608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83247"/>
                </a:solidFill>
              </a:rPr>
              <a:t>Do not promote beyond this class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685800" y="3383280"/>
            <a:ext cx="24688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5800" y="3383280"/>
            <a:ext cx="64008" cy="713232"/>
          </a:xfrm>
          <a:prstGeom prst="rect">
            <a:avLst/>
          </a:prstGeom>
          <a:solidFill>
            <a:srgbClr val="425466"/>
          </a:solidFill>
          <a:ln w="12700">
            <a:solidFill>
              <a:srgbClr val="42546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0392" y="3493008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0B2447"/>
                </a:solidFill>
              </a:rPr>
              <a:t>Model-level</a:t>
            </a:r>
            <a:endParaRPr lang="en-US" sz="1080" dirty="0"/>
          </a:p>
        </p:txBody>
      </p:sp>
      <p:sp>
        <p:nvSpPr>
          <p:cNvPr id="32" name="Text 30"/>
          <p:cNvSpPr/>
          <p:nvPr/>
        </p:nvSpPr>
        <p:spPr>
          <a:xfrm>
            <a:off x="850392" y="3813048"/>
            <a:ext cx="2212848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83247"/>
                </a:solidFill>
              </a:rPr>
              <a:t>Controlled reconstruction / kinematic representations</a:t>
            </a:r>
            <a:endParaRPr lang="en-US" sz="820" dirty="0"/>
          </a:p>
        </p:txBody>
      </p:sp>
      <p:sp>
        <p:nvSpPr>
          <p:cNvPr id="33" name="Shape 31"/>
          <p:cNvSpPr/>
          <p:nvPr/>
        </p:nvSpPr>
        <p:spPr>
          <a:xfrm>
            <a:off x="3337560" y="3383280"/>
            <a:ext cx="38862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337560" y="3383280"/>
            <a:ext cx="64008" cy="713232"/>
          </a:xfrm>
          <a:prstGeom prst="rect">
            <a:avLst/>
          </a:prstGeom>
          <a:solidFill>
            <a:srgbClr val="425466"/>
          </a:solidFill>
          <a:ln w="12700">
            <a:solidFill>
              <a:srgbClr val="42546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502152" y="3493008"/>
            <a:ext cx="3630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0B2447"/>
                </a:solidFill>
              </a:rPr>
              <a:t>Support</a:t>
            </a:r>
            <a:endParaRPr lang="en-US" sz="1080" dirty="0"/>
          </a:p>
        </p:txBody>
      </p:sp>
      <p:sp>
        <p:nvSpPr>
          <p:cNvPr id="36" name="Text 34"/>
          <p:cNvSpPr/>
          <p:nvPr/>
        </p:nvSpPr>
        <p:spPr>
          <a:xfrm>
            <a:off x="3502152" y="3813048"/>
            <a:ext cx="3630168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83247"/>
                </a:solidFill>
              </a:rPr>
              <a:t>Model behavior only</a:t>
            </a:r>
            <a:endParaRPr lang="en-US" sz="820" dirty="0"/>
          </a:p>
        </p:txBody>
      </p:sp>
      <p:sp>
        <p:nvSpPr>
          <p:cNvPr id="37" name="Shape 35"/>
          <p:cNvSpPr/>
          <p:nvPr/>
        </p:nvSpPr>
        <p:spPr>
          <a:xfrm>
            <a:off x="7406640" y="3383280"/>
            <a:ext cx="39776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406640" y="3383280"/>
            <a:ext cx="64008" cy="713232"/>
          </a:xfrm>
          <a:prstGeom prst="rect">
            <a:avLst/>
          </a:prstGeom>
          <a:solidFill>
            <a:srgbClr val="425466"/>
          </a:solidFill>
          <a:ln w="12700">
            <a:solidFill>
              <a:srgbClr val="42546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571232" y="3493008"/>
            <a:ext cx="3721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0B2447"/>
                </a:solidFill>
              </a:rPr>
              <a:t>Classification</a:t>
            </a:r>
            <a:endParaRPr lang="en-US" sz="1080" dirty="0"/>
          </a:p>
        </p:txBody>
      </p:sp>
      <p:sp>
        <p:nvSpPr>
          <p:cNvPr id="40" name="Text 38"/>
          <p:cNvSpPr/>
          <p:nvPr/>
        </p:nvSpPr>
        <p:spPr>
          <a:xfrm>
            <a:off x="7571232" y="3813048"/>
            <a:ext cx="3721608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83247"/>
                </a:solidFill>
              </a:rPr>
              <a:t>Do not promote beyond this class</a:t>
            </a:r>
            <a:endParaRPr lang="en-US" sz="820" dirty="0"/>
          </a:p>
        </p:txBody>
      </p:sp>
      <p:sp>
        <p:nvSpPr>
          <p:cNvPr id="41" name="Shape 39"/>
          <p:cNvSpPr/>
          <p:nvPr/>
        </p:nvSpPr>
        <p:spPr>
          <a:xfrm>
            <a:off x="685800" y="4206240"/>
            <a:ext cx="24688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85800" y="4206240"/>
            <a:ext cx="64008" cy="713232"/>
          </a:xfrm>
          <a:prstGeom prst="rect">
            <a:avLst/>
          </a:prstGeom>
          <a:solidFill>
            <a:srgbClr val="B23A3A"/>
          </a:solidFill>
          <a:ln w="12700">
            <a:solidFill>
              <a:srgbClr val="B23A3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50392" y="4315968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0B2447"/>
                </a:solidFill>
              </a:rPr>
              <a:t>Physical evidence</a:t>
            </a:r>
            <a:endParaRPr lang="en-US" sz="1080" dirty="0"/>
          </a:p>
        </p:txBody>
      </p:sp>
      <p:sp>
        <p:nvSpPr>
          <p:cNvPr id="44" name="Text 42"/>
          <p:cNvSpPr/>
          <p:nvPr/>
        </p:nvSpPr>
        <p:spPr>
          <a:xfrm>
            <a:off x="850392" y="4636008"/>
            <a:ext cx="2212848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83247"/>
                </a:solidFill>
              </a:rPr>
              <a:t>Not established as complete T-OCS validation</a:t>
            </a:r>
            <a:endParaRPr lang="en-US" sz="820" dirty="0"/>
          </a:p>
        </p:txBody>
      </p:sp>
      <p:sp>
        <p:nvSpPr>
          <p:cNvPr id="45" name="Shape 43"/>
          <p:cNvSpPr/>
          <p:nvPr/>
        </p:nvSpPr>
        <p:spPr>
          <a:xfrm>
            <a:off x="3337560" y="4206240"/>
            <a:ext cx="38862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337560" y="4206240"/>
            <a:ext cx="64008" cy="713232"/>
          </a:xfrm>
          <a:prstGeom prst="rect">
            <a:avLst/>
          </a:prstGeom>
          <a:solidFill>
            <a:srgbClr val="425466"/>
          </a:solidFill>
          <a:ln w="12700">
            <a:solidFill>
              <a:srgbClr val="42546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502152" y="4315968"/>
            <a:ext cx="3630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0B2447"/>
                </a:solidFill>
              </a:rPr>
              <a:t>Support</a:t>
            </a:r>
            <a:endParaRPr lang="en-US" sz="1080" dirty="0"/>
          </a:p>
        </p:txBody>
      </p:sp>
      <p:sp>
        <p:nvSpPr>
          <p:cNvPr id="48" name="Text 46"/>
          <p:cNvSpPr/>
          <p:nvPr/>
        </p:nvSpPr>
        <p:spPr>
          <a:xfrm>
            <a:off x="3502152" y="4636008"/>
            <a:ext cx="3630168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83247"/>
                </a:solidFill>
              </a:rPr>
              <a:t>Cannot support current performance claims</a:t>
            </a:r>
            <a:endParaRPr lang="en-US" sz="820" dirty="0"/>
          </a:p>
        </p:txBody>
      </p:sp>
      <p:sp>
        <p:nvSpPr>
          <p:cNvPr id="49" name="Shape 47"/>
          <p:cNvSpPr/>
          <p:nvPr/>
        </p:nvSpPr>
        <p:spPr>
          <a:xfrm>
            <a:off x="7406640" y="4206240"/>
            <a:ext cx="39776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406640" y="4206240"/>
            <a:ext cx="64008" cy="713232"/>
          </a:xfrm>
          <a:prstGeom prst="rect">
            <a:avLst/>
          </a:prstGeom>
          <a:solidFill>
            <a:srgbClr val="425466"/>
          </a:solidFill>
          <a:ln w="12700">
            <a:solidFill>
              <a:srgbClr val="42546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571232" y="4315968"/>
            <a:ext cx="3721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0B2447"/>
                </a:solidFill>
              </a:rPr>
              <a:t>Classification</a:t>
            </a:r>
            <a:endParaRPr lang="en-US" sz="1080" dirty="0"/>
          </a:p>
        </p:txBody>
      </p:sp>
      <p:sp>
        <p:nvSpPr>
          <p:cNvPr id="52" name="Text 50"/>
          <p:cNvSpPr/>
          <p:nvPr/>
        </p:nvSpPr>
        <p:spPr>
          <a:xfrm>
            <a:off x="7571232" y="4636008"/>
            <a:ext cx="3721608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83247"/>
                </a:solidFill>
              </a:rPr>
              <a:t>Do not promote beyond this class</a:t>
            </a:r>
            <a:endParaRPr lang="en-US" sz="820" dirty="0"/>
          </a:p>
        </p:txBody>
      </p:sp>
      <p:sp>
        <p:nvSpPr>
          <p:cNvPr id="53" name="Shape 51"/>
          <p:cNvSpPr/>
          <p:nvPr/>
        </p:nvSpPr>
        <p:spPr>
          <a:xfrm>
            <a:off x="685800" y="5029200"/>
            <a:ext cx="24688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85800" y="5029200"/>
            <a:ext cx="64008" cy="713232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50392" y="5138928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0B2447"/>
                </a:solidFill>
              </a:rPr>
              <a:t>Unknown / open</a:t>
            </a:r>
            <a:endParaRPr lang="en-US" sz="1080" dirty="0"/>
          </a:p>
        </p:txBody>
      </p:sp>
      <p:sp>
        <p:nvSpPr>
          <p:cNvPr id="56" name="Text 54"/>
          <p:cNvSpPr/>
          <p:nvPr/>
        </p:nvSpPr>
        <p:spPr>
          <a:xfrm>
            <a:off x="850392" y="5458968"/>
            <a:ext cx="2212848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83247"/>
                </a:solidFill>
              </a:rPr>
              <a:t>Vehicle inputs, material/joint closure, test behavior, production evidence</a:t>
            </a:r>
            <a:endParaRPr lang="en-US" sz="820" dirty="0"/>
          </a:p>
        </p:txBody>
      </p:sp>
      <p:sp>
        <p:nvSpPr>
          <p:cNvPr id="57" name="Shape 55"/>
          <p:cNvSpPr/>
          <p:nvPr/>
        </p:nvSpPr>
        <p:spPr>
          <a:xfrm>
            <a:off x="3337560" y="5029200"/>
            <a:ext cx="38862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337560" y="5029200"/>
            <a:ext cx="64008" cy="713232"/>
          </a:xfrm>
          <a:prstGeom prst="rect">
            <a:avLst/>
          </a:prstGeom>
          <a:solidFill>
            <a:srgbClr val="425466"/>
          </a:solidFill>
          <a:ln w="12700">
            <a:solidFill>
              <a:srgbClr val="42546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502152" y="5138928"/>
            <a:ext cx="3630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0B2447"/>
                </a:solidFill>
              </a:rPr>
              <a:t>Support</a:t>
            </a:r>
            <a:endParaRPr lang="en-US" sz="1080" dirty="0"/>
          </a:p>
        </p:txBody>
      </p:sp>
      <p:sp>
        <p:nvSpPr>
          <p:cNvPr id="60" name="Text 58"/>
          <p:cNvSpPr/>
          <p:nvPr/>
        </p:nvSpPr>
        <p:spPr>
          <a:xfrm>
            <a:off x="3502152" y="5458968"/>
            <a:ext cx="3630168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83247"/>
                </a:solidFill>
              </a:rPr>
              <a:t>Defines next evidence gates</a:t>
            </a:r>
            <a:endParaRPr lang="en-US" sz="820" dirty="0"/>
          </a:p>
        </p:txBody>
      </p:sp>
      <p:sp>
        <p:nvSpPr>
          <p:cNvPr id="61" name="Shape 59"/>
          <p:cNvSpPr/>
          <p:nvPr/>
        </p:nvSpPr>
        <p:spPr>
          <a:xfrm>
            <a:off x="7406640" y="5029200"/>
            <a:ext cx="39776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406640" y="5029200"/>
            <a:ext cx="64008" cy="713232"/>
          </a:xfrm>
          <a:prstGeom prst="rect">
            <a:avLst/>
          </a:prstGeom>
          <a:solidFill>
            <a:srgbClr val="425466"/>
          </a:solidFill>
          <a:ln w="12700">
            <a:solidFill>
              <a:srgbClr val="42546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571232" y="5138928"/>
            <a:ext cx="3721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0B2447"/>
                </a:solidFill>
              </a:rPr>
              <a:t>Classification</a:t>
            </a:r>
            <a:endParaRPr lang="en-US" sz="1080" dirty="0"/>
          </a:p>
        </p:txBody>
      </p:sp>
      <p:sp>
        <p:nvSpPr>
          <p:cNvPr id="64" name="Text 62"/>
          <p:cNvSpPr/>
          <p:nvPr/>
        </p:nvSpPr>
        <p:spPr>
          <a:xfrm>
            <a:off x="7571232" y="5458968"/>
            <a:ext cx="3721608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83247"/>
                </a:solidFill>
              </a:rPr>
              <a:t>Do not promote beyond this class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38404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7A75"/>
                </a:solidFill>
              </a:rPr>
              <a:t>OPEN EVIDENCE / GAPS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12648" y="621792"/>
            <a:ext cx="10835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447"/>
                </a:solidFill>
              </a:rPr>
              <a:t>The blockers are evidence gaps, not reasons to invent values.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30936" y="1207008"/>
            <a:ext cx="10561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25466"/>
                </a:solidFill>
              </a:rPr>
              <a:t>The next move is evidence closure and independent verification, not cosmetic certainty.</a:t>
            </a:r>
            <a:endParaRPr lang="en-US" sz="1080" dirty="0"/>
          </a:p>
        </p:txBody>
      </p:sp>
      <p:sp>
        <p:nvSpPr>
          <p:cNvPr id="5" name="Shape 3"/>
          <p:cNvSpPr/>
          <p:nvPr/>
        </p:nvSpPr>
        <p:spPr>
          <a:xfrm>
            <a:off x="685800" y="201168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011680"/>
            <a:ext cx="64008" cy="2011680"/>
          </a:xfrm>
          <a:prstGeom prst="rect">
            <a:avLst/>
          </a:prstGeom>
          <a:solidFill>
            <a:srgbClr val="B23A3A"/>
          </a:solidFill>
          <a:ln w="12700">
            <a:solidFill>
              <a:srgbClr val="B23A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2121408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2447"/>
                </a:solidFill>
              </a:rPr>
              <a:t>Vehicle integration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50392" y="2441448"/>
            <a:ext cx="2350008" cy="1499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83247"/>
                </a:solidFill>
              </a:rPr>
              <a:t>Datum • H/R • hardpoints • BIW • restraint anchors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201168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0" y="2011680"/>
            <a:ext cx="64008" cy="2011680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39312" y="2121408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2447"/>
                </a:solidFill>
              </a:rPr>
              <a:t>Engineering definition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39312" y="2441448"/>
            <a:ext cx="2350008" cy="1499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83247"/>
                </a:solidFill>
              </a:rPr>
              <a:t>Released dimensions • PMI/GD&amp;T • tolerances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263640" y="201168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63640" y="2011680"/>
            <a:ext cx="64008" cy="2011680"/>
          </a:xfrm>
          <a:prstGeom prst="rect">
            <a:avLst/>
          </a:prstGeom>
          <a:solidFill>
            <a:srgbClr val="B23A3A"/>
          </a:solidFill>
          <a:ln w="12700">
            <a:solidFill>
              <a:srgbClr val="B23A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28232" y="2121408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2447"/>
                </a:solidFill>
              </a:rPr>
              <a:t>Physical components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28232" y="2441448"/>
            <a:ext cx="2350008" cy="1499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83247"/>
                </a:solidFill>
              </a:rPr>
              <a:t>Materials • fasteners • joints • absorber • lock • rebound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052560" y="201168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52560" y="2011680"/>
            <a:ext cx="64008" cy="2011680"/>
          </a:xfrm>
          <a:prstGeom prst="rect">
            <a:avLst/>
          </a:prstGeom>
          <a:solidFill>
            <a:srgbClr val="B23A3A"/>
          </a:solidFill>
          <a:ln w="12700">
            <a:solidFill>
              <a:srgbClr val="B23A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17152" y="2121408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2447"/>
                </a:solidFill>
              </a:rPr>
              <a:t>Validation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217152" y="2441448"/>
            <a:ext cx="2350008" cy="1499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83247"/>
                </a:solidFill>
              </a:rPr>
              <a:t>Measurements • dynamic tests • correlation • vehicle evidence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77824" y="4370832"/>
            <a:ext cx="10442448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77824" y="4370832"/>
            <a:ext cx="64008" cy="868680"/>
          </a:xfrm>
          <a:prstGeom prst="rect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42416" y="4480560"/>
            <a:ext cx="10186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2447"/>
                </a:solidFill>
              </a:rPr>
              <a:t>Fail-closed rule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42416" y="4800600"/>
            <a:ext cx="10186416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83247"/>
                </a:solidFill>
              </a:rPr>
              <a:t>Missing = UNKNOWN / OPEN / NOT ESTABLISHED. Conflicting values are preserved, not reconciled by convenience.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38404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7A75"/>
                </a:solidFill>
              </a:rPr>
              <a:t>DEVELOPMENT &amp; VALIDATION PATH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12648" y="621792"/>
            <a:ext cx="10835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447"/>
                </a:solidFill>
              </a:rPr>
              <a:t>Every transition is an evidence gate.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30936" y="1207008"/>
            <a:ext cx="10561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25466"/>
                </a:solidFill>
              </a:rPr>
              <a:t>Later maturity is never inferred from earlier artifacts.</a:t>
            </a:r>
            <a:endParaRPr lang="en-US" sz="1080" dirty="0"/>
          </a:p>
        </p:txBody>
      </p:sp>
      <p:sp>
        <p:nvSpPr>
          <p:cNvPr id="5" name="Shape 3"/>
          <p:cNvSpPr/>
          <p:nvPr/>
        </p:nvSpPr>
        <p:spPr>
          <a:xfrm>
            <a:off x="502920" y="2057400"/>
            <a:ext cx="1581912" cy="1874520"/>
          </a:xfrm>
          <a:prstGeom prst="roundRect">
            <a:avLst>
              <a:gd name="adj" fmla="val 4624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2057400"/>
            <a:ext cx="64008" cy="1874520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" y="216712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0B2447"/>
                </a:solidFill>
              </a:rPr>
              <a:t>1  Concept Closure</a:t>
            </a:r>
            <a:endParaRPr lang="en-US" sz="1030" dirty="0"/>
          </a:p>
        </p:txBody>
      </p:sp>
      <p:sp>
        <p:nvSpPr>
          <p:cNvPr id="8" name="Text 6"/>
          <p:cNvSpPr/>
          <p:nvPr/>
        </p:nvSpPr>
        <p:spPr>
          <a:xfrm>
            <a:off x="667512" y="2487168"/>
            <a:ext cx="1325880" cy="1362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83247"/>
                </a:solidFill>
              </a:rPr>
              <a:t>Scope + requirements + assumptions</a:t>
            </a:r>
            <a:endParaRPr lang="en-US" sz="780" dirty="0"/>
          </a:p>
        </p:txBody>
      </p:sp>
      <p:sp>
        <p:nvSpPr>
          <p:cNvPr id="9" name="Shape 7"/>
          <p:cNvSpPr/>
          <p:nvPr/>
        </p:nvSpPr>
        <p:spPr>
          <a:xfrm>
            <a:off x="2093976" y="2990088"/>
            <a:ext cx="164592" cy="0"/>
          </a:xfrm>
          <a:prstGeom prst="line">
            <a:avLst/>
          </a:prstGeom>
          <a:noFill/>
          <a:ln w="12065">
            <a:solidFill>
              <a:srgbClr val="425466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185416" y="2057400"/>
            <a:ext cx="1581912" cy="1874520"/>
          </a:xfrm>
          <a:prstGeom prst="roundRect">
            <a:avLst>
              <a:gd name="adj" fmla="val 4624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85416" y="2057400"/>
            <a:ext cx="64008" cy="1874520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50008" y="216712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0B2447"/>
                </a:solidFill>
              </a:rPr>
              <a:t>2  Controlled Model</a:t>
            </a:r>
            <a:endParaRPr lang="en-US" sz="1030" dirty="0"/>
          </a:p>
        </p:txBody>
      </p:sp>
      <p:sp>
        <p:nvSpPr>
          <p:cNvPr id="13" name="Text 11"/>
          <p:cNvSpPr/>
          <p:nvPr/>
        </p:nvSpPr>
        <p:spPr>
          <a:xfrm>
            <a:off x="2350008" y="2487168"/>
            <a:ext cx="1325880" cy="1362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83247"/>
                </a:solidFill>
              </a:rPr>
              <a:t>Geometry / interfaces / package / motion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3776472" y="2990088"/>
            <a:ext cx="164592" cy="0"/>
          </a:xfrm>
          <a:prstGeom prst="line">
            <a:avLst/>
          </a:prstGeom>
          <a:noFill/>
          <a:ln w="12065">
            <a:solidFill>
              <a:srgbClr val="425466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867912" y="2057400"/>
            <a:ext cx="1581912" cy="1874520"/>
          </a:xfrm>
          <a:prstGeom prst="roundRect">
            <a:avLst>
              <a:gd name="adj" fmla="val 4624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67912" y="2057400"/>
            <a:ext cx="64008" cy="1874520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32504" y="216712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0B2447"/>
                </a:solidFill>
              </a:rPr>
              <a:t>3  CAE / FE</a:t>
            </a:r>
            <a:endParaRPr lang="en-US" sz="1030" dirty="0"/>
          </a:p>
        </p:txBody>
      </p:sp>
      <p:sp>
        <p:nvSpPr>
          <p:cNvPr id="18" name="Text 16"/>
          <p:cNvSpPr/>
          <p:nvPr/>
        </p:nvSpPr>
        <p:spPr>
          <a:xfrm>
            <a:off x="4032504" y="2487168"/>
            <a:ext cx="1325880" cy="1362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83247"/>
                </a:solidFill>
              </a:rPr>
              <a:t>Controlled inputs + model verification</a:t>
            </a:r>
            <a:endParaRPr lang="en-US" sz="780" dirty="0"/>
          </a:p>
        </p:txBody>
      </p:sp>
      <p:sp>
        <p:nvSpPr>
          <p:cNvPr id="19" name="Shape 17"/>
          <p:cNvSpPr/>
          <p:nvPr/>
        </p:nvSpPr>
        <p:spPr>
          <a:xfrm>
            <a:off x="5458968" y="2990088"/>
            <a:ext cx="164592" cy="0"/>
          </a:xfrm>
          <a:prstGeom prst="line">
            <a:avLst/>
          </a:prstGeom>
          <a:noFill/>
          <a:ln w="12065">
            <a:solidFill>
              <a:srgbClr val="425466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550408" y="2057400"/>
            <a:ext cx="1581912" cy="1874520"/>
          </a:xfrm>
          <a:prstGeom prst="roundRect">
            <a:avLst>
              <a:gd name="adj" fmla="val 4624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50408" y="2057400"/>
            <a:ext cx="64008" cy="1874520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15000" y="216712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0B2447"/>
                </a:solidFill>
              </a:rPr>
              <a:t>4  Prototype</a:t>
            </a:r>
            <a:endParaRPr lang="en-US" sz="1030" dirty="0"/>
          </a:p>
        </p:txBody>
      </p:sp>
      <p:sp>
        <p:nvSpPr>
          <p:cNvPr id="23" name="Text 21"/>
          <p:cNvSpPr/>
          <p:nvPr/>
        </p:nvSpPr>
        <p:spPr>
          <a:xfrm>
            <a:off x="5715000" y="2487168"/>
            <a:ext cx="1325880" cy="1362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83247"/>
                </a:solidFill>
              </a:rPr>
              <a:t>Released build definition + inspection</a:t>
            </a:r>
            <a:endParaRPr lang="en-US" sz="780" dirty="0"/>
          </a:p>
        </p:txBody>
      </p:sp>
      <p:sp>
        <p:nvSpPr>
          <p:cNvPr id="24" name="Shape 22"/>
          <p:cNvSpPr/>
          <p:nvPr/>
        </p:nvSpPr>
        <p:spPr>
          <a:xfrm>
            <a:off x="7141464" y="2990088"/>
            <a:ext cx="164592" cy="0"/>
          </a:xfrm>
          <a:prstGeom prst="line">
            <a:avLst/>
          </a:prstGeom>
          <a:noFill/>
          <a:ln w="12065">
            <a:solidFill>
              <a:srgbClr val="425466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232904" y="2057400"/>
            <a:ext cx="1581912" cy="1874520"/>
          </a:xfrm>
          <a:prstGeom prst="roundRect">
            <a:avLst>
              <a:gd name="adj" fmla="val 4624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232904" y="2057400"/>
            <a:ext cx="64008" cy="1874520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97496" y="216712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0B2447"/>
                </a:solidFill>
              </a:rPr>
              <a:t>5  Dynamic Test</a:t>
            </a:r>
            <a:endParaRPr lang="en-US" sz="1030" dirty="0"/>
          </a:p>
        </p:txBody>
      </p:sp>
      <p:sp>
        <p:nvSpPr>
          <p:cNvPr id="28" name="Text 26"/>
          <p:cNvSpPr/>
          <p:nvPr/>
        </p:nvSpPr>
        <p:spPr>
          <a:xfrm>
            <a:off x="7397496" y="2487168"/>
            <a:ext cx="1325880" cy="1362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83247"/>
                </a:solidFill>
              </a:rPr>
              <a:t>Instrumentation + calibration + raw data</a:t>
            </a:r>
            <a:endParaRPr lang="en-US" sz="780" dirty="0"/>
          </a:p>
        </p:txBody>
      </p:sp>
      <p:sp>
        <p:nvSpPr>
          <p:cNvPr id="29" name="Shape 27"/>
          <p:cNvSpPr/>
          <p:nvPr/>
        </p:nvSpPr>
        <p:spPr>
          <a:xfrm>
            <a:off x="8823960" y="2990088"/>
            <a:ext cx="164592" cy="0"/>
          </a:xfrm>
          <a:prstGeom prst="line">
            <a:avLst/>
          </a:prstGeom>
          <a:noFill/>
          <a:ln w="12065">
            <a:solidFill>
              <a:srgbClr val="425466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8915400" y="2057400"/>
            <a:ext cx="1581912" cy="1874520"/>
          </a:xfrm>
          <a:prstGeom prst="roundRect">
            <a:avLst>
              <a:gd name="adj" fmla="val 4624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915400" y="2057400"/>
            <a:ext cx="64008" cy="1874520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079992" y="216712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0B2447"/>
                </a:solidFill>
              </a:rPr>
              <a:t>6  Correlation</a:t>
            </a:r>
            <a:endParaRPr lang="en-US" sz="1030" dirty="0"/>
          </a:p>
        </p:txBody>
      </p:sp>
      <p:sp>
        <p:nvSpPr>
          <p:cNvPr id="33" name="Text 31"/>
          <p:cNvSpPr/>
          <p:nvPr/>
        </p:nvSpPr>
        <p:spPr>
          <a:xfrm>
            <a:off x="9079992" y="2487168"/>
            <a:ext cx="1325880" cy="1362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83247"/>
                </a:solidFill>
              </a:rPr>
              <a:t>Comparable model/test + discrepancy closure</a:t>
            </a:r>
            <a:endParaRPr lang="en-US" sz="780" dirty="0"/>
          </a:p>
        </p:txBody>
      </p:sp>
      <p:sp>
        <p:nvSpPr>
          <p:cNvPr id="34" name="Shape 32"/>
          <p:cNvSpPr/>
          <p:nvPr/>
        </p:nvSpPr>
        <p:spPr>
          <a:xfrm>
            <a:off x="10506456" y="2990088"/>
            <a:ext cx="164592" cy="0"/>
          </a:xfrm>
          <a:prstGeom prst="line">
            <a:avLst/>
          </a:prstGeom>
          <a:noFill/>
          <a:ln w="12065">
            <a:solidFill>
              <a:srgbClr val="425466"/>
            </a:solidFill>
            <a:prstDash val="solid"/>
            <a:headEnd type="non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10597896" y="2057400"/>
            <a:ext cx="1581912" cy="1874520"/>
          </a:xfrm>
          <a:prstGeom prst="roundRect">
            <a:avLst>
              <a:gd name="adj" fmla="val 4624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597896" y="2057400"/>
            <a:ext cx="64008" cy="1874520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762488" y="216712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0B2447"/>
                </a:solidFill>
              </a:rPr>
              <a:t>7  Further Validation</a:t>
            </a:r>
            <a:endParaRPr lang="en-US" sz="1030" dirty="0"/>
          </a:p>
        </p:txBody>
      </p:sp>
      <p:sp>
        <p:nvSpPr>
          <p:cNvPr id="38" name="Text 36"/>
          <p:cNvSpPr/>
          <p:nvPr/>
        </p:nvSpPr>
        <p:spPr>
          <a:xfrm>
            <a:off x="10762488" y="2487168"/>
            <a:ext cx="1325880" cy="1362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83247"/>
                </a:solidFill>
              </a:rPr>
              <a:t>Manufacturing / vehicle / applicable validation</a:t>
            </a:r>
            <a:endParaRPr lang="en-US" sz="780" dirty="0"/>
          </a:p>
        </p:txBody>
      </p:sp>
      <p:sp>
        <p:nvSpPr>
          <p:cNvPr id="39" name="Text 37"/>
          <p:cNvSpPr/>
          <p:nvPr/>
        </p:nvSpPr>
        <p:spPr>
          <a:xfrm>
            <a:off x="1051560" y="459028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2447"/>
                </a:solidFill>
              </a:rPr>
              <a:t>PROPOSED DEVELOPMENT PATH — not a claim that every gate has been executed.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1417320" y="5074920"/>
            <a:ext cx="9372600" cy="658368"/>
          </a:xfrm>
          <a:prstGeom prst="roundRect">
            <a:avLst>
              <a:gd name="adj" fmla="val 11111"/>
            </a:avLst>
          </a:prstGeom>
          <a:solidFill>
            <a:srgbClr val="FFF6D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417320" y="5074920"/>
            <a:ext cx="64008" cy="658368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581912" y="5184648"/>
            <a:ext cx="9116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0B2447"/>
                </a:solidFill>
              </a:rPr>
              <a:t>Gate discipline</a:t>
            </a:r>
            <a:endParaRPr lang="en-US" sz="1060" dirty="0"/>
          </a:p>
        </p:txBody>
      </p:sp>
      <p:sp>
        <p:nvSpPr>
          <p:cNvPr id="43" name="Text 41"/>
          <p:cNvSpPr/>
          <p:nvPr/>
        </p:nvSpPr>
        <p:spPr>
          <a:xfrm>
            <a:off x="1581912" y="5504688"/>
            <a:ext cx="9116568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83247"/>
                </a:solidFill>
              </a:rPr>
              <a:t>Before prototype: fabrication definition, materials/joints, fixture and inspection controls. Before testing: article + instrumentation + test case + acceptance criteria.</a:t>
            </a:r>
            <a:endParaRPr lang="en-US" sz="8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38404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7A75"/>
                </a:solidFill>
              </a:rPr>
              <a:t>REAL-WORLD ADOPTION / INDUSTRIALIZATION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12648" y="621792"/>
            <a:ext cx="10835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447"/>
                </a:solidFill>
              </a:rPr>
              <a:t>Where a company can enter the program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30936" y="1207008"/>
            <a:ext cx="10561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25466"/>
                </a:solidFill>
              </a:rPr>
              <a:t>Entry is through a bounded technical problem, not a blanket commitment to “finish V7.”</a:t>
            </a:r>
            <a:endParaRPr lang="en-US" sz="1080" dirty="0"/>
          </a:p>
        </p:txBody>
      </p:sp>
      <p:sp>
        <p:nvSpPr>
          <p:cNvPr id="5" name="Shape 3"/>
          <p:cNvSpPr/>
          <p:nvPr/>
        </p:nvSpPr>
        <p:spPr>
          <a:xfrm>
            <a:off x="713232" y="1719072"/>
            <a:ext cx="106984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719072"/>
            <a:ext cx="64008" cy="640080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1828800"/>
            <a:ext cx="10442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0B2447"/>
                </a:solidFill>
              </a:rPr>
              <a:t>Strategic Engineering Partner</a:t>
            </a:r>
            <a:endParaRPr lang="en-US" sz="1120" dirty="0"/>
          </a:p>
        </p:txBody>
      </p:sp>
      <p:sp>
        <p:nvSpPr>
          <p:cNvPr id="8" name="Text 6"/>
          <p:cNvSpPr/>
          <p:nvPr/>
        </p:nvSpPr>
        <p:spPr>
          <a:xfrm>
            <a:off x="877824" y="2148840"/>
            <a:ext cx="10442448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83247"/>
                </a:solidFill>
              </a:rPr>
              <a:t>Requirements / CAD / CAE / feasibility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13232" y="2478024"/>
            <a:ext cx="106984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" y="2478024"/>
            <a:ext cx="64008" cy="640080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2587752"/>
            <a:ext cx="10442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0B2447"/>
                </a:solidFill>
              </a:rPr>
              <a:t>Test Laboratory</a:t>
            </a:r>
            <a:endParaRPr lang="en-US" sz="1120" dirty="0"/>
          </a:p>
        </p:txBody>
      </p:sp>
      <p:sp>
        <p:nvSpPr>
          <p:cNvPr id="12" name="Text 10"/>
          <p:cNvSpPr/>
          <p:nvPr/>
        </p:nvSpPr>
        <p:spPr>
          <a:xfrm>
            <a:off x="877824" y="2907792"/>
            <a:ext cx="10442448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83247"/>
                </a:solidFill>
              </a:rPr>
              <a:t>Dynamic test / instrumentation / measurement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13232" y="3236976"/>
            <a:ext cx="106984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3232" y="3236976"/>
            <a:ext cx="64008" cy="640080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7824" y="3346704"/>
            <a:ext cx="10442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0B2447"/>
                </a:solidFill>
              </a:rPr>
              <a:t>Seat Engineering</a:t>
            </a:r>
            <a:endParaRPr lang="en-US" sz="1120" dirty="0"/>
          </a:p>
        </p:txBody>
      </p:sp>
      <p:sp>
        <p:nvSpPr>
          <p:cNvPr id="16" name="Text 14"/>
          <p:cNvSpPr/>
          <p:nvPr/>
        </p:nvSpPr>
        <p:spPr>
          <a:xfrm>
            <a:off x="877824" y="3666744"/>
            <a:ext cx="10442448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83247"/>
                </a:solidFill>
              </a:rPr>
              <a:t>Advanced development / technical fit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13232" y="3995928"/>
            <a:ext cx="106984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3995928"/>
            <a:ext cx="64008" cy="640080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7824" y="4105656"/>
            <a:ext cx="10442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0B2447"/>
                </a:solidFill>
              </a:rPr>
              <a:t>Prototype / Manufacturing</a:t>
            </a:r>
            <a:endParaRPr lang="en-US" sz="1120" dirty="0"/>
          </a:p>
        </p:txBody>
      </p:sp>
      <p:sp>
        <p:nvSpPr>
          <p:cNvPr id="20" name="Text 18"/>
          <p:cNvSpPr/>
          <p:nvPr/>
        </p:nvSpPr>
        <p:spPr>
          <a:xfrm>
            <a:off x="877824" y="4425696"/>
            <a:ext cx="10442448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83247"/>
                </a:solidFill>
              </a:rPr>
              <a:t>Build definition / process development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13232" y="4754880"/>
            <a:ext cx="106984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3232" y="4754880"/>
            <a:ext cx="64008" cy="640080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77824" y="4864608"/>
            <a:ext cx="10442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0B2447"/>
                </a:solidFill>
              </a:rPr>
              <a:t>Research / Sponsorship / Investment</a:t>
            </a:r>
            <a:endParaRPr lang="en-US" sz="1120" dirty="0"/>
          </a:p>
        </p:txBody>
      </p:sp>
      <p:sp>
        <p:nvSpPr>
          <p:cNvPr id="24" name="Text 22"/>
          <p:cNvSpPr/>
          <p:nvPr/>
        </p:nvSpPr>
        <p:spPr>
          <a:xfrm>
            <a:off x="877824" y="5184648"/>
            <a:ext cx="10442448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83247"/>
                </a:solidFill>
              </a:rPr>
              <a:t>Program support subject to explicit agreement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480560" y="5669280"/>
            <a:ext cx="2468880" cy="292608"/>
          </a:xfrm>
          <a:prstGeom prst="roundRect">
            <a:avLst>
              <a:gd name="adj" fmla="val 25000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53712" y="5728716"/>
            <a:ext cx="23225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B23A3A"/>
                </a:solidFill>
              </a:rPr>
              <a:t>INTEREST ≠ COMMITMENT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38404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7A75"/>
                </a:solidFill>
              </a:rPr>
              <a:t>PARTNERSHIP / ENGAGEMENT MODELS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12648" y="621792"/>
            <a:ext cx="10835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447"/>
                </a:solidFill>
              </a:rPr>
              <a:t>Commercial structure is a question for the counterpart, not a project assumption.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30936" y="1207008"/>
            <a:ext cx="10561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25466"/>
                </a:solidFill>
              </a:rPr>
              <a:t>Ask what the organization actually offers for a bounded engineering result.</a:t>
            </a:r>
            <a:endParaRPr lang="en-US" sz="1080" dirty="0"/>
          </a:p>
        </p:txBody>
      </p:sp>
      <p:sp>
        <p:nvSpPr>
          <p:cNvPr id="5" name="Shape 3"/>
          <p:cNvSpPr/>
          <p:nvPr/>
        </p:nvSpPr>
        <p:spPr>
          <a:xfrm>
            <a:off x="749808" y="1645920"/>
            <a:ext cx="10561320" cy="667512"/>
          </a:xfrm>
          <a:prstGeom prst="roundRect">
            <a:avLst>
              <a:gd name="adj" fmla="val 10959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1645920"/>
            <a:ext cx="64008" cy="667512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55648"/>
            <a:ext cx="10305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0B2447"/>
                </a:solidFill>
              </a:rPr>
              <a:t>Paid Engineering</a:t>
            </a:r>
            <a:endParaRPr lang="en-US" sz="1140" dirty="0"/>
          </a:p>
        </p:txBody>
      </p:sp>
      <p:sp>
        <p:nvSpPr>
          <p:cNvPr id="8" name="Text 6"/>
          <p:cNvSpPr/>
          <p:nvPr/>
        </p:nvSpPr>
        <p:spPr>
          <a:xfrm>
            <a:off x="914400" y="2075688"/>
            <a:ext cx="10305288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183247"/>
                </a:solidFill>
              </a:rPr>
              <a:t>Fixed deliverable + acceptance</a:t>
            </a:r>
            <a:endParaRPr lang="en-US" sz="890" dirty="0"/>
          </a:p>
        </p:txBody>
      </p:sp>
      <p:sp>
        <p:nvSpPr>
          <p:cNvPr id="9" name="Shape 7"/>
          <p:cNvSpPr/>
          <p:nvPr/>
        </p:nvSpPr>
        <p:spPr>
          <a:xfrm>
            <a:off x="749808" y="2414016"/>
            <a:ext cx="10561320" cy="667512"/>
          </a:xfrm>
          <a:prstGeom prst="roundRect">
            <a:avLst>
              <a:gd name="adj" fmla="val 10959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9808" y="2414016"/>
            <a:ext cx="64008" cy="667512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523744"/>
            <a:ext cx="10305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0B2447"/>
                </a:solidFill>
              </a:rPr>
              <a:t>Co-development</a:t>
            </a:r>
            <a:endParaRPr lang="en-US" sz="1140" dirty="0"/>
          </a:p>
        </p:txBody>
      </p:sp>
      <p:sp>
        <p:nvSpPr>
          <p:cNvPr id="12" name="Text 10"/>
          <p:cNvSpPr/>
          <p:nvPr/>
        </p:nvSpPr>
        <p:spPr>
          <a:xfrm>
            <a:off x="914400" y="2843784"/>
            <a:ext cx="10305288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183247"/>
                </a:solidFill>
              </a:rPr>
              <a:t>Shared scope / governance if explicitly agreed</a:t>
            </a:r>
            <a:endParaRPr lang="en-US" sz="890" dirty="0"/>
          </a:p>
        </p:txBody>
      </p:sp>
      <p:sp>
        <p:nvSpPr>
          <p:cNvPr id="13" name="Shape 11"/>
          <p:cNvSpPr/>
          <p:nvPr/>
        </p:nvSpPr>
        <p:spPr>
          <a:xfrm>
            <a:off x="749808" y="3182112"/>
            <a:ext cx="10561320" cy="667512"/>
          </a:xfrm>
          <a:prstGeom prst="roundRect">
            <a:avLst>
              <a:gd name="adj" fmla="val 10959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9808" y="3182112"/>
            <a:ext cx="64008" cy="667512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291840"/>
            <a:ext cx="10305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0B2447"/>
                </a:solidFill>
              </a:rPr>
              <a:t>Test Services</a:t>
            </a:r>
            <a:endParaRPr lang="en-US" sz="1140" dirty="0"/>
          </a:p>
        </p:txBody>
      </p:sp>
      <p:sp>
        <p:nvSpPr>
          <p:cNvPr id="16" name="Text 14"/>
          <p:cNvSpPr/>
          <p:nvPr/>
        </p:nvSpPr>
        <p:spPr>
          <a:xfrm>
            <a:off x="914400" y="3611880"/>
            <a:ext cx="10305288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183247"/>
                </a:solidFill>
              </a:rPr>
              <a:t>Quoted test + data outputs</a:t>
            </a:r>
            <a:endParaRPr lang="en-US" sz="890" dirty="0"/>
          </a:p>
        </p:txBody>
      </p:sp>
      <p:sp>
        <p:nvSpPr>
          <p:cNvPr id="17" name="Shape 15"/>
          <p:cNvSpPr/>
          <p:nvPr/>
        </p:nvSpPr>
        <p:spPr>
          <a:xfrm>
            <a:off x="749808" y="3950208"/>
            <a:ext cx="10561320" cy="667512"/>
          </a:xfrm>
          <a:prstGeom prst="roundRect">
            <a:avLst>
              <a:gd name="adj" fmla="val 10959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9808" y="3950208"/>
            <a:ext cx="64008" cy="667512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059936"/>
            <a:ext cx="10305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0B2447"/>
                </a:solidFill>
              </a:rPr>
              <a:t>Research</a:t>
            </a:r>
            <a:endParaRPr lang="en-US" sz="1140" dirty="0"/>
          </a:p>
        </p:txBody>
      </p:sp>
      <p:sp>
        <p:nvSpPr>
          <p:cNvPr id="20" name="Text 18"/>
          <p:cNvSpPr/>
          <p:nvPr/>
        </p:nvSpPr>
        <p:spPr>
          <a:xfrm>
            <a:off x="914400" y="4379976"/>
            <a:ext cx="10305288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183247"/>
                </a:solidFill>
              </a:rPr>
              <a:t>Defined research question + evidence</a:t>
            </a:r>
            <a:endParaRPr lang="en-US" sz="890" dirty="0"/>
          </a:p>
        </p:txBody>
      </p:sp>
      <p:sp>
        <p:nvSpPr>
          <p:cNvPr id="21" name="Shape 19"/>
          <p:cNvSpPr/>
          <p:nvPr/>
        </p:nvSpPr>
        <p:spPr>
          <a:xfrm>
            <a:off x="749808" y="4718304"/>
            <a:ext cx="10561320" cy="667512"/>
          </a:xfrm>
          <a:prstGeom prst="roundRect">
            <a:avLst>
              <a:gd name="adj" fmla="val 10959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9808" y="4718304"/>
            <a:ext cx="64008" cy="667512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4828032"/>
            <a:ext cx="10305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0B2447"/>
                </a:solidFill>
              </a:rPr>
              <a:t>Sponsorship / Investment</a:t>
            </a:r>
            <a:endParaRPr lang="en-US" sz="1140" dirty="0"/>
          </a:p>
        </p:txBody>
      </p:sp>
      <p:sp>
        <p:nvSpPr>
          <p:cNvPr id="24" name="Text 22"/>
          <p:cNvSpPr/>
          <p:nvPr/>
        </p:nvSpPr>
        <p:spPr>
          <a:xfrm>
            <a:off x="914400" y="5148072"/>
            <a:ext cx="10305288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183247"/>
                </a:solidFill>
              </a:rPr>
              <a:t>Separate commercial decision; no implied commitment</a:t>
            </a:r>
            <a:endParaRPr lang="en-US" sz="890" dirty="0"/>
          </a:p>
        </p:txBody>
      </p:sp>
      <p:sp>
        <p:nvSpPr>
          <p:cNvPr id="25" name="Shape 23"/>
          <p:cNvSpPr/>
          <p:nvPr/>
        </p:nvSpPr>
        <p:spPr>
          <a:xfrm>
            <a:off x="1965960" y="544068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FF6D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965960" y="5440680"/>
            <a:ext cx="64008" cy="640080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130552" y="5550408"/>
            <a:ext cx="7973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2447"/>
                </a:solidFill>
              </a:rPr>
              <a:t>Commercial firewall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130552" y="5870448"/>
            <a:ext cx="7973568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83247"/>
                </a:solidFill>
              </a:rPr>
              <a:t>No “interested” → partner; no discussion → contract; no proposal → commitment.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38404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7A75"/>
                </a:solidFill>
              </a:rPr>
              <a:t>PROPOSED PHASE-1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12648" y="621792"/>
            <a:ext cx="10835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447"/>
                </a:solidFill>
              </a:rPr>
              <a:t>Minimum credible engineering package — bounded, acceptance-controlled.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30936" y="1207008"/>
            <a:ext cx="10561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25466"/>
                </a:solidFill>
              </a:rPr>
              <a:t>Phase-1 is not “finish V7” and not “close the entire gap universe.”</a:t>
            </a:r>
            <a:endParaRPr lang="en-US" sz="1080" dirty="0"/>
          </a:p>
        </p:txBody>
      </p:sp>
      <p:sp>
        <p:nvSpPr>
          <p:cNvPr id="5" name="Shape 3"/>
          <p:cNvSpPr/>
          <p:nvPr/>
        </p:nvSpPr>
        <p:spPr>
          <a:xfrm>
            <a:off x="658368" y="1691640"/>
            <a:ext cx="3547872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691640"/>
            <a:ext cx="64008" cy="1207008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80136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2447"/>
                </a:solidFill>
              </a:rPr>
              <a:t>Scope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121408"/>
            <a:ext cx="3291840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183247"/>
                </a:solidFill>
              </a:rPr>
              <a:t>Feasibility, package, interface, kinematic and evidence-plan review</a:t>
            </a:r>
            <a:endParaRPr lang="en-US" sz="910" dirty="0"/>
          </a:p>
        </p:txBody>
      </p:sp>
      <p:sp>
        <p:nvSpPr>
          <p:cNvPr id="9" name="Shape 7"/>
          <p:cNvSpPr/>
          <p:nvPr/>
        </p:nvSpPr>
        <p:spPr>
          <a:xfrm>
            <a:off x="4315968" y="1691640"/>
            <a:ext cx="3547872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15968" y="1691640"/>
            <a:ext cx="64008" cy="1207008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180136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2447"/>
                </a:solidFill>
              </a:rPr>
              <a:t>Inputs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480560" y="2121408"/>
            <a:ext cx="3291840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183247"/>
                </a:solidFill>
              </a:rPr>
              <a:t>L1 brief + approved engineering context + agreed questions</a:t>
            </a:r>
            <a:endParaRPr lang="en-US" sz="910" dirty="0"/>
          </a:p>
        </p:txBody>
      </p:sp>
      <p:sp>
        <p:nvSpPr>
          <p:cNvPr id="13" name="Shape 11"/>
          <p:cNvSpPr/>
          <p:nvPr/>
        </p:nvSpPr>
        <p:spPr>
          <a:xfrm>
            <a:off x="7973568" y="1691640"/>
            <a:ext cx="3547872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73568" y="1691640"/>
            <a:ext cx="64008" cy="1207008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38160" y="180136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2447"/>
                </a:solidFill>
              </a:rPr>
              <a:t>Work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138160" y="2121408"/>
            <a:ext cx="3291840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183247"/>
                </a:solidFill>
              </a:rPr>
              <a:t>Assess → identify issues → define evidence → propose next actions</a:t>
            </a:r>
            <a:endParaRPr lang="en-US" sz="910" dirty="0"/>
          </a:p>
        </p:txBody>
      </p:sp>
      <p:sp>
        <p:nvSpPr>
          <p:cNvPr id="17" name="Shape 15"/>
          <p:cNvSpPr/>
          <p:nvPr/>
        </p:nvSpPr>
        <p:spPr>
          <a:xfrm>
            <a:off x="658368" y="3182112"/>
            <a:ext cx="3547872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" y="3182112"/>
            <a:ext cx="64008" cy="1207008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32918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2447"/>
                </a:solidFill>
              </a:rPr>
              <a:t>Outputs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3611880"/>
            <a:ext cx="3291840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183247"/>
                </a:solidFill>
              </a:rPr>
              <a:t>Technical assessment + issue/evidence register + next-decision package</a:t>
            </a:r>
            <a:endParaRPr lang="en-US" sz="910" dirty="0"/>
          </a:p>
        </p:txBody>
      </p:sp>
      <p:sp>
        <p:nvSpPr>
          <p:cNvPr id="21" name="Shape 19"/>
          <p:cNvSpPr/>
          <p:nvPr/>
        </p:nvSpPr>
        <p:spPr>
          <a:xfrm>
            <a:off x="4315968" y="3182112"/>
            <a:ext cx="3547872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15968" y="3182112"/>
            <a:ext cx="64008" cy="1207008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80560" y="32918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2447"/>
                </a:solidFill>
              </a:rPr>
              <a:t>Acceptance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480560" y="3611880"/>
            <a:ext cx="3291840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183247"/>
                </a:solidFill>
              </a:rPr>
              <a:t>Known/open/unknown clearly separated; owner + evidence + deadline captured</a:t>
            </a:r>
            <a:endParaRPr lang="en-US" sz="910" dirty="0"/>
          </a:p>
        </p:txBody>
      </p:sp>
      <p:sp>
        <p:nvSpPr>
          <p:cNvPr id="25" name="Shape 23"/>
          <p:cNvSpPr/>
          <p:nvPr/>
        </p:nvSpPr>
        <p:spPr>
          <a:xfrm>
            <a:off x="7973568" y="3182112"/>
            <a:ext cx="3547872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973568" y="3182112"/>
            <a:ext cx="64008" cy="1207008"/>
          </a:xfrm>
          <a:prstGeom prst="rect">
            <a:avLst/>
          </a:prstGeom>
          <a:solidFill>
            <a:srgbClr val="B23A3A"/>
          </a:solidFill>
          <a:ln w="12700">
            <a:solidFill>
              <a:srgbClr val="B23A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138160" y="32918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2447"/>
                </a:solidFill>
              </a:rPr>
              <a:t>Out of scope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138160" y="3611880"/>
            <a:ext cx="3291840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183247"/>
                </a:solidFill>
              </a:rPr>
              <a:t>Production release, crash validation, regulatory certification, blanket V7 closure</a:t>
            </a:r>
            <a:endParaRPr lang="en-US" sz="910" dirty="0"/>
          </a:p>
        </p:txBody>
      </p:sp>
      <p:sp>
        <p:nvSpPr>
          <p:cNvPr id="29" name="Text 27"/>
          <p:cNvSpPr/>
          <p:nvPr/>
        </p:nvSpPr>
        <p:spPr>
          <a:xfrm>
            <a:off x="896112" y="4864608"/>
            <a:ext cx="1042416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0B2447"/>
                </a:solidFill>
              </a:rPr>
              <a:t>Commercial form: one bounded result with defined acceptance. Hours are not the purchased output; price is organization-specific and TBD.</a:t>
            </a:r>
            <a:endParaRPr lang="en-US" sz="12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38404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7A75"/>
                </a:solidFill>
              </a:rPr>
              <a:t>TECHNICAL QUALIFICATION C1–C5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12648" y="621792"/>
            <a:ext cx="10835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447"/>
                </a:solidFill>
              </a:rPr>
              <a:t>Use the meeting to extract decisions, not compliments.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30936" y="1207008"/>
            <a:ext cx="10561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25466"/>
                </a:solidFill>
              </a:rPr>
              <a:t>Every C closes to a concrete record.</a:t>
            </a:r>
            <a:endParaRPr lang="en-US" sz="1080" dirty="0"/>
          </a:p>
        </p:txBody>
      </p:sp>
      <p:sp>
        <p:nvSpPr>
          <p:cNvPr id="5" name="Shape 3"/>
          <p:cNvSpPr/>
          <p:nvPr/>
        </p:nvSpPr>
        <p:spPr>
          <a:xfrm>
            <a:off x="685800" y="1572768"/>
            <a:ext cx="1078992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572768"/>
            <a:ext cx="64008" cy="694944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682496"/>
            <a:ext cx="10533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2447"/>
                </a:solidFill>
              </a:rPr>
              <a:t>C1  Technical Scope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50392" y="2002536"/>
            <a:ext cx="10533888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83247"/>
                </a:solidFill>
              </a:rPr>
              <a:t>What can you do?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85800" y="2340864"/>
            <a:ext cx="1078992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2340864"/>
            <a:ext cx="64008" cy="694944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" y="2450592"/>
            <a:ext cx="10533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2447"/>
                </a:solidFill>
              </a:rPr>
              <a:t>C2  Required Evidence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50392" y="2770632"/>
            <a:ext cx="10533888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83247"/>
                </a:solidFill>
              </a:rPr>
              <a:t>What do you need?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85800" y="3108960"/>
            <a:ext cx="1078992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3108960"/>
            <a:ext cx="64008" cy="694944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" y="3218688"/>
            <a:ext cx="10533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2447"/>
                </a:solidFill>
              </a:rPr>
              <a:t>C3  Entry Criteria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50392" y="3538728"/>
            <a:ext cx="10533888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83247"/>
                </a:solidFill>
              </a:rPr>
              <a:t>What must be true to start?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85800" y="3877056"/>
            <a:ext cx="1078992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" y="3877056"/>
            <a:ext cx="64008" cy="694944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0392" y="3986784"/>
            <a:ext cx="10533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2447"/>
                </a:solidFill>
              </a:rPr>
              <a:t>C4  Commercial Structure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50392" y="4306824"/>
            <a:ext cx="10533888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83247"/>
                </a:solidFill>
              </a:rPr>
              <a:t>How would the bounded work be procured?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85800" y="4645152"/>
            <a:ext cx="1078992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" y="4645152"/>
            <a:ext cx="64008" cy="694944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0392" y="4754880"/>
            <a:ext cx="10533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2447"/>
                </a:solidFill>
              </a:rPr>
              <a:t>C5  NDA Trigger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50392" y="5074920"/>
            <a:ext cx="10533888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83247"/>
                </a:solidFill>
              </a:rPr>
              <a:t>What can be shared now vs under NDA?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874520" y="5486400"/>
            <a:ext cx="841248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874520" y="5486400"/>
            <a:ext cx="64008" cy="603504"/>
          </a:xfrm>
          <a:prstGeom prst="rect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39112" y="5596128"/>
            <a:ext cx="8156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B2447"/>
                </a:solidFill>
              </a:rPr>
              <a:t>Required meeting close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039112" y="5916168"/>
            <a:ext cx="8156448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83247"/>
                </a:solidFill>
              </a:rPr>
              <a:t>Technical Scope → Evidence → Entry → Commercial → NDA → Action → Deliverable → Acceptance → Owner → Deadline</a:t>
            </a:r>
            <a:endParaRPr lang="en-US" sz="8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38404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7A75"/>
                </a:solidFill>
              </a:rPr>
              <a:t>COMPANY-SPECIFIC QUALIFICATION ROUTES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12648" y="621792"/>
            <a:ext cx="10835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447"/>
                </a:solidFill>
              </a:rPr>
              <a:t>Three different entry points, one discipline: extract the actual scope.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30936" y="1207008"/>
            <a:ext cx="10561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25466"/>
                </a:solidFill>
              </a:rPr>
              <a:t>Current outreach records are used only to establish meeting context — not partnership status.</a:t>
            </a:r>
            <a:endParaRPr lang="en-US" sz="1080" dirty="0"/>
          </a:p>
        </p:txBody>
      </p:sp>
      <p:sp>
        <p:nvSpPr>
          <p:cNvPr id="5" name="Shape 3"/>
          <p:cNvSpPr/>
          <p:nvPr/>
        </p:nvSpPr>
        <p:spPr>
          <a:xfrm>
            <a:off x="594360" y="1737360"/>
            <a:ext cx="3566160" cy="33375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737360"/>
            <a:ext cx="64008" cy="3337560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847088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B2447"/>
                </a:solidFill>
              </a:rPr>
              <a:t>ARRK Engineering</a:t>
            </a:r>
            <a:endParaRPr lang="en-US" sz="1220" dirty="0"/>
          </a:p>
        </p:txBody>
      </p:sp>
      <p:sp>
        <p:nvSpPr>
          <p:cNvPr id="8" name="Text 6"/>
          <p:cNvSpPr/>
          <p:nvPr/>
        </p:nvSpPr>
        <p:spPr>
          <a:xfrm>
            <a:off x="758952" y="2167128"/>
            <a:ext cx="3310128" cy="2825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183247"/>
                </a:solidFill>
              </a:rPr>
              <a:t>Passive Safety → CAD → CAE → Prototype → Acceptance</a:t>
            </a:r>
            <a:endParaRPr lang="en-US" sz="910" dirty="0"/>
          </a:p>
          <a:p>
            <a:pPr indent="0" marL="0">
              <a:buNone/>
            </a:pP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183247"/>
                </a:solidFill>
              </a:rPr>
              <a:t>Contact: Claudius Brix — VP / Passive Safety</a:t>
            </a:r>
            <a:endParaRPr lang="en-US" sz="910" dirty="0"/>
          </a:p>
          <a:p>
            <a:pPr indent="0" marL="0">
              <a:buNone/>
            </a:pP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183247"/>
                </a:solidFill>
              </a:rPr>
              <a:t>Scheduling: Microsoft Teams proposed; date/time pending</a:t>
            </a:r>
            <a:endParaRPr lang="en-US" sz="910" dirty="0"/>
          </a:p>
        </p:txBody>
      </p:sp>
      <p:sp>
        <p:nvSpPr>
          <p:cNvPr id="9" name="Shape 7"/>
          <p:cNvSpPr/>
          <p:nvPr/>
        </p:nvSpPr>
        <p:spPr>
          <a:xfrm>
            <a:off x="4297680" y="1737360"/>
            <a:ext cx="3566160" cy="33375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97680" y="1737360"/>
            <a:ext cx="64008" cy="3337560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62272" y="1847088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B2447"/>
                </a:solidFill>
              </a:rPr>
              <a:t>Calspan Automotive Test Services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4462272" y="2167128"/>
            <a:ext cx="3310128" cy="2825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183247"/>
                </a:solidFill>
              </a:rPr>
              <a:t>Dynamic Test → Instrumentation → Measurement → Correlation</a:t>
            </a:r>
            <a:endParaRPr lang="en-US" sz="910" dirty="0"/>
          </a:p>
          <a:p>
            <a:pPr indent="0" marL="0">
              <a:buNone/>
            </a:pP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183247"/>
                </a:solidFill>
              </a:rPr>
              <a:t>Contact: William McGowan — Business Unit Director</a:t>
            </a:r>
            <a:endParaRPr lang="en-US" sz="910" dirty="0"/>
          </a:p>
          <a:p>
            <a:pPr indent="0" marL="0">
              <a:buNone/>
            </a:pP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183247"/>
                </a:solidFill>
              </a:rPr>
              <a:t>Scheduling: Afternoon ET preference; date/time pending</a:t>
            </a:r>
            <a:endParaRPr lang="en-US" sz="910" dirty="0"/>
          </a:p>
        </p:txBody>
      </p:sp>
      <p:sp>
        <p:nvSpPr>
          <p:cNvPr id="13" name="Shape 11"/>
          <p:cNvSpPr/>
          <p:nvPr/>
        </p:nvSpPr>
        <p:spPr>
          <a:xfrm>
            <a:off x="8001000" y="1737360"/>
            <a:ext cx="3566160" cy="33375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01000" y="1737360"/>
            <a:ext cx="64008" cy="3337560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65592" y="1847088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B2447"/>
                </a:solidFill>
              </a:rPr>
              <a:t>Toyota Boshoku America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8165592" y="2167128"/>
            <a:ext cx="3310128" cy="2825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183247"/>
                </a:solidFill>
              </a:rPr>
              <a:t>Seat Advanced Development → Technical Fit → Co-development</a:t>
            </a:r>
            <a:endParaRPr lang="en-US" sz="910" dirty="0"/>
          </a:p>
          <a:p>
            <a:pPr indent="0" marL="0">
              <a:buNone/>
            </a:pP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183247"/>
                </a:solidFill>
              </a:rPr>
              <a:t>Contact: Jacob Richter — Senior Engineer, Advanced Development</a:t>
            </a:r>
            <a:endParaRPr lang="en-US" sz="910" dirty="0"/>
          </a:p>
          <a:p>
            <a:pPr indent="0" marL="0">
              <a:buNone/>
            </a:pP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183247"/>
                </a:solidFill>
              </a:rPr>
              <a:t>Scheduling: Sep 23 or 24, 2026 • 11:00 AM ET; L1 requested</a:t>
            </a:r>
            <a:endParaRPr lang="en-US" sz="910" dirty="0"/>
          </a:p>
        </p:txBody>
      </p:sp>
      <p:sp>
        <p:nvSpPr>
          <p:cNvPr id="17" name="Shape 15"/>
          <p:cNvSpPr/>
          <p:nvPr/>
        </p:nvSpPr>
        <p:spPr>
          <a:xfrm>
            <a:off x="1234440" y="5349240"/>
            <a:ext cx="9646920" cy="658368"/>
          </a:xfrm>
          <a:prstGeom prst="roundRect">
            <a:avLst>
              <a:gd name="adj" fmla="val 11111"/>
            </a:avLst>
          </a:prstGeom>
          <a:solidFill>
            <a:srgbClr val="FDECEC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34440" y="5349240"/>
            <a:ext cx="64008" cy="658368"/>
          </a:xfrm>
          <a:prstGeom prst="rect">
            <a:avLst/>
          </a:prstGeom>
          <a:solidFill>
            <a:srgbClr val="B23A3A"/>
          </a:solidFill>
          <a:ln w="12700">
            <a:solidFill>
              <a:srgbClr val="B23A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99032" y="5458968"/>
            <a:ext cx="9390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0B2447"/>
                </a:solidFill>
              </a:rPr>
              <a:t>Commitment firewall</a:t>
            </a:r>
            <a:endParaRPr lang="en-US" sz="1060" dirty="0"/>
          </a:p>
        </p:txBody>
      </p:sp>
      <p:sp>
        <p:nvSpPr>
          <p:cNvPr id="20" name="Text 18"/>
          <p:cNvSpPr/>
          <p:nvPr/>
        </p:nvSpPr>
        <p:spPr>
          <a:xfrm>
            <a:off x="1399032" y="5779008"/>
            <a:ext cx="9390888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83247"/>
                </a:solidFill>
              </a:rPr>
              <a:t>Meeting response = source record. It does not equal partner, customer, sponsor, investor, or approved test-provider status.</a:t>
            </a:r>
            <a:endParaRPr lang="en-US" sz="8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38404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7A75"/>
                </a:solidFill>
              </a:rPr>
              <a:t>EXPECTED Q&amp;A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12648" y="621792"/>
            <a:ext cx="10835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447"/>
                </a:solidFill>
              </a:rPr>
              <a:t>Answer discipline: KNOWN → LIMITATION → EVIDENCE NEEDED → NEXT ACTION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30936" y="1207008"/>
            <a:ext cx="10561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25466"/>
                </a:solidFill>
              </a:rPr>
              <a:t>Do not defend uncertainty with rhetoric.</a:t>
            </a:r>
            <a:endParaRPr lang="en-US" sz="1080" dirty="0"/>
          </a:p>
        </p:txBody>
      </p:sp>
      <p:sp>
        <p:nvSpPr>
          <p:cNvPr id="5" name="Shape 3"/>
          <p:cNvSpPr/>
          <p:nvPr/>
        </p:nvSpPr>
        <p:spPr>
          <a:xfrm>
            <a:off x="676656" y="1737360"/>
            <a:ext cx="310896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6656" y="1737360"/>
            <a:ext cx="64008" cy="786384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847088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0B2447"/>
                </a:solidFill>
              </a:rPr>
              <a:t>What is proven?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841248" y="2167128"/>
            <a:ext cx="2852928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5" dirty="0">
                <a:solidFill>
                  <a:srgbClr val="183247"/>
                </a:solidFill>
              </a:rPr>
              <a:t>Architecture + controlled definitions + model-level artifacts.</a:t>
            </a:r>
            <a:endParaRPr lang="en-US" sz="825" dirty="0"/>
          </a:p>
        </p:txBody>
      </p:sp>
      <p:sp>
        <p:nvSpPr>
          <p:cNvPr id="9" name="Shape 7"/>
          <p:cNvSpPr/>
          <p:nvPr/>
        </p:nvSpPr>
        <p:spPr>
          <a:xfrm>
            <a:off x="3977640" y="1737360"/>
            <a:ext cx="3291840" cy="786384"/>
          </a:xfrm>
          <a:prstGeom prst="roundRect">
            <a:avLst>
              <a:gd name="adj" fmla="val 9302"/>
            </a:avLst>
          </a:prstGeom>
          <a:solidFill>
            <a:srgbClr val="FFF6D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77640" y="1737360"/>
            <a:ext cx="64008" cy="786384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42232" y="1847088"/>
            <a:ext cx="3035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0B2447"/>
                </a:solidFill>
              </a:rPr>
              <a:t>LIMITATION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4142232" y="2167128"/>
            <a:ext cx="3035808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5" dirty="0">
                <a:solidFill>
                  <a:srgbClr val="183247"/>
                </a:solidFill>
              </a:rPr>
              <a:t>Physical performance still open.</a:t>
            </a:r>
            <a:endParaRPr lang="en-US" sz="825" dirty="0"/>
          </a:p>
        </p:txBody>
      </p:sp>
      <p:sp>
        <p:nvSpPr>
          <p:cNvPr id="13" name="Shape 11"/>
          <p:cNvSpPr/>
          <p:nvPr/>
        </p:nvSpPr>
        <p:spPr>
          <a:xfrm>
            <a:off x="7479792" y="1737360"/>
            <a:ext cx="388620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79792" y="1737360"/>
            <a:ext cx="64008" cy="786384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44384" y="1847088"/>
            <a:ext cx="3630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0B2447"/>
                </a:solidFill>
              </a:rPr>
              <a:t>NEXT ACTION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7644384" y="2167128"/>
            <a:ext cx="3630168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5" dirty="0">
                <a:solidFill>
                  <a:srgbClr val="183247"/>
                </a:solidFill>
              </a:rPr>
              <a:t>Scope the evidence gate.</a:t>
            </a:r>
            <a:endParaRPr lang="en-US" sz="825" dirty="0"/>
          </a:p>
        </p:txBody>
      </p:sp>
      <p:sp>
        <p:nvSpPr>
          <p:cNvPr id="17" name="Shape 15"/>
          <p:cNvSpPr/>
          <p:nvPr/>
        </p:nvSpPr>
        <p:spPr>
          <a:xfrm>
            <a:off x="676656" y="2606040"/>
            <a:ext cx="310896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76656" y="2606040"/>
            <a:ext cx="64008" cy="786384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2715768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0B2447"/>
                </a:solidFill>
              </a:rPr>
              <a:t>Do you have native CAD?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841248" y="3035808"/>
            <a:ext cx="2852928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5" dirty="0">
                <a:solidFill>
                  <a:srgbClr val="183247"/>
                </a:solidFill>
              </a:rPr>
              <a:t>Current external package is a controlled engineering/reconstruction baseline.</a:t>
            </a:r>
            <a:endParaRPr lang="en-US" sz="825" dirty="0"/>
          </a:p>
        </p:txBody>
      </p:sp>
      <p:sp>
        <p:nvSpPr>
          <p:cNvPr id="21" name="Shape 19"/>
          <p:cNvSpPr/>
          <p:nvPr/>
        </p:nvSpPr>
        <p:spPr>
          <a:xfrm>
            <a:off x="3977640" y="2606040"/>
            <a:ext cx="3291840" cy="786384"/>
          </a:xfrm>
          <a:prstGeom prst="roundRect">
            <a:avLst>
              <a:gd name="adj" fmla="val 9302"/>
            </a:avLst>
          </a:prstGeom>
          <a:solidFill>
            <a:srgbClr val="FFF6D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977640" y="2606040"/>
            <a:ext cx="64008" cy="786384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42232" y="2715768"/>
            <a:ext cx="3035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0B2447"/>
                </a:solidFill>
              </a:rPr>
              <a:t>LIMITATION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4142232" y="3035808"/>
            <a:ext cx="3035808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5" dirty="0">
                <a:solidFill>
                  <a:srgbClr val="183247"/>
                </a:solidFill>
              </a:rPr>
              <a:t>Do not describe source format or release status beyond the approved disclosure boundary.</a:t>
            </a:r>
            <a:endParaRPr lang="en-US" sz="825" dirty="0"/>
          </a:p>
        </p:txBody>
      </p:sp>
      <p:sp>
        <p:nvSpPr>
          <p:cNvPr id="25" name="Shape 23"/>
          <p:cNvSpPr/>
          <p:nvPr/>
        </p:nvSpPr>
        <p:spPr>
          <a:xfrm>
            <a:off x="7479792" y="2606040"/>
            <a:ext cx="388620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79792" y="2606040"/>
            <a:ext cx="64008" cy="786384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44384" y="2715768"/>
            <a:ext cx="3630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0B2447"/>
                </a:solidFill>
              </a:rPr>
              <a:t>NEXT ACTION</a:t>
            </a:r>
            <a:endParaRPr lang="en-US" sz="1080" dirty="0"/>
          </a:p>
        </p:txBody>
      </p:sp>
      <p:sp>
        <p:nvSpPr>
          <p:cNvPr id="28" name="Text 26"/>
          <p:cNvSpPr/>
          <p:nvPr/>
        </p:nvSpPr>
        <p:spPr>
          <a:xfrm>
            <a:off x="7644384" y="3035808"/>
            <a:ext cx="3630168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5" dirty="0">
                <a:solidFill>
                  <a:srgbClr val="183247"/>
                </a:solidFill>
              </a:rPr>
              <a:t>Scope the evidence gate.</a:t>
            </a:r>
            <a:endParaRPr lang="en-US" sz="825" dirty="0"/>
          </a:p>
        </p:txBody>
      </p:sp>
      <p:sp>
        <p:nvSpPr>
          <p:cNvPr id="29" name="Shape 27"/>
          <p:cNvSpPr/>
          <p:nvPr/>
        </p:nvSpPr>
        <p:spPr>
          <a:xfrm>
            <a:off x="676656" y="3474720"/>
            <a:ext cx="310896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76656" y="3474720"/>
            <a:ext cx="64008" cy="786384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1248" y="3584448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0B2447"/>
                </a:solidFill>
              </a:rPr>
              <a:t>Do you have physical test data?</a:t>
            </a:r>
            <a:endParaRPr lang="en-US" sz="1080" dirty="0"/>
          </a:p>
        </p:txBody>
      </p:sp>
      <p:sp>
        <p:nvSpPr>
          <p:cNvPr id="32" name="Text 30"/>
          <p:cNvSpPr/>
          <p:nvPr/>
        </p:nvSpPr>
        <p:spPr>
          <a:xfrm>
            <a:off x="841248" y="3904488"/>
            <a:ext cx="2852928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5" dirty="0">
                <a:solidFill>
                  <a:srgbClr val="183247"/>
                </a:solidFill>
              </a:rPr>
              <a:t>Complete T-OCS physical validation is not established.</a:t>
            </a:r>
            <a:endParaRPr lang="en-US" sz="825" dirty="0"/>
          </a:p>
        </p:txBody>
      </p:sp>
      <p:sp>
        <p:nvSpPr>
          <p:cNvPr id="33" name="Shape 31"/>
          <p:cNvSpPr/>
          <p:nvPr/>
        </p:nvSpPr>
        <p:spPr>
          <a:xfrm>
            <a:off x="3977640" y="3474720"/>
            <a:ext cx="3291840" cy="786384"/>
          </a:xfrm>
          <a:prstGeom prst="roundRect">
            <a:avLst>
              <a:gd name="adj" fmla="val 9302"/>
            </a:avLst>
          </a:prstGeom>
          <a:solidFill>
            <a:srgbClr val="FFF6D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977640" y="3474720"/>
            <a:ext cx="64008" cy="786384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42232" y="3584448"/>
            <a:ext cx="3035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0B2447"/>
                </a:solidFill>
              </a:rPr>
              <a:t>LIMITATION</a:t>
            </a:r>
            <a:endParaRPr lang="en-US" sz="1080" dirty="0"/>
          </a:p>
        </p:txBody>
      </p:sp>
      <p:sp>
        <p:nvSpPr>
          <p:cNvPr id="36" name="Text 34"/>
          <p:cNvSpPr/>
          <p:nvPr/>
        </p:nvSpPr>
        <p:spPr>
          <a:xfrm>
            <a:off x="4142232" y="3904488"/>
            <a:ext cx="3035808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5" dirty="0">
                <a:solidFill>
                  <a:srgbClr val="183247"/>
                </a:solidFill>
              </a:rPr>
              <a:t>Test article + instrumentation + raw data required.</a:t>
            </a:r>
            <a:endParaRPr lang="en-US" sz="825" dirty="0"/>
          </a:p>
        </p:txBody>
      </p:sp>
      <p:sp>
        <p:nvSpPr>
          <p:cNvPr id="37" name="Shape 35"/>
          <p:cNvSpPr/>
          <p:nvPr/>
        </p:nvSpPr>
        <p:spPr>
          <a:xfrm>
            <a:off x="7479792" y="3474720"/>
            <a:ext cx="388620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479792" y="3474720"/>
            <a:ext cx="64008" cy="786384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644384" y="3584448"/>
            <a:ext cx="3630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0B2447"/>
                </a:solidFill>
              </a:rPr>
              <a:t>NEXT ACTION</a:t>
            </a:r>
            <a:endParaRPr lang="en-US" sz="1080" dirty="0"/>
          </a:p>
        </p:txBody>
      </p:sp>
      <p:sp>
        <p:nvSpPr>
          <p:cNvPr id="40" name="Text 38"/>
          <p:cNvSpPr/>
          <p:nvPr/>
        </p:nvSpPr>
        <p:spPr>
          <a:xfrm>
            <a:off x="7644384" y="3904488"/>
            <a:ext cx="3630168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5" dirty="0">
                <a:solidFill>
                  <a:srgbClr val="183247"/>
                </a:solidFill>
              </a:rPr>
              <a:t>Scope the evidence gate.</a:t>
            </a:r>
            <a:endParaRPr lang="en-US" sz="825" dirty="0"/>
          </a:p>
        </p:txBody>
      </p:sp>
      <p:sp>
        <p:nvSpPr>
          <p:cNvPr id="41" name="Shape 39"/>
          <p:cNvSpPr/>
          <p:nvPr/>
        </p:nvSpPr>
        <p:spPr>
          <a:xfrm>
            <a:off x="676656" y="4343400"/>
            <a:ext cx="310896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76656" y="4343400"/>
            <a:ext cx="64008" cy="786384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41248" y="4453128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0B2447"/>
                </a:solidFill>
              </a:rPr>
              <a:t>Why evaluate?</a:t>
            </a:r>
            <a:endParaRPr lang="en-US" sz="1080" dirty="0"/>
          </a:p>
        </p:txBody>
      </p:sp>
      <p:sp>
        <p:nvSpPr>
          <p:cNvPr id="44" name="Text 42"/>
          <p:cNvSpPr/>
          <p:nvPr/>
        </p:nvSpPr>
        <p:spPr>
          <a:xfrm>
            <a:off x="841248" y="4773168"/>
            <a:ext cx="2852928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5" dirty="0">
                <a:solidFill>
                  <a:srgbClr val="183247"/>
                </a:solidFill>
              </a:rPr>
              <a:t>Testable system hypothesis + bounded evidence path.</a:t>
            </a:r>
            <a:endParaRPr lang="en-US" sz="825" dirty="0"/>
          </a:p>
        </p:txBody>
      </p:sp>
      <p:sp>
        <p:nvSpPr>
          <p:cNvPr id="45" name="Shape 43"/>
          <p:cNvSpPr/>
          <p:nvPr/>
        </p:nvSpPr>
        <p:spPr>
          <a:xfrm>
            <a:off x="3977640" y="4343400"/>
            <a:ext cx="3291840" cy="786384"/>
          </a:xfrm>
          <a:prstGeom prst="roundRect">
            <a:avLst>
              <a:gd name="adj" fmla="val 9302"/>
            </a:avLst>
          </a:prstGeom>
          <a:solidFill>
            <a:srgbClr val="FFF6D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977640" y="4343400"/>
            <a:ext cx="64008" cy="786384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142232" y="4453128"/>
            <a:ext cx="3035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0B2447"/>
                </a:solidFill>
              </a:rPr>
              <a:t>LIMITATION</a:t>
            </a:r>
            <a:endParaRPr lang="en-US" sz="1080" dirty="0"/>
          </a:p>
        </p:txBody>
      </p:sp>
      <p:sp>
        <p:nvSpPr>
          <p:cNvPr id="48" name="Text 46"/>
          <p:cNvSpPr/>
          <p:nvPr/>
        </p:nvSpPr>
        <p:spPr>
          <a:xfrm>
            <a:off x="4142232" y="4773168"/>
            <a:ext cx="3035808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5" dirty="0">
                <a:solidFill>
                  <a:srgbClr val="183247"/>
                </a:solidFill>
              </a:rPr>
              <a:t>Not a superiority claim.</a:t>
            </a:r>
            <a:endParaRPr lang="en-US" sz="825" dirty="0"/>
          </a:p>
        </p:txBody>
      </p:sp>
      <p:sp>
        <p:nvSpPr>
          <p:cNvPr id="49" name="Shape 47"/>
          <p:cNvSpPr/>
          <p:nvPr/>
        </p:nvSpPr>
        <p:spPr>
          <a:xfrm>
            <a:off x="7479792" y="4343400"/>
            <a:ext cx="388620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479792" y="4343400"/>
            <a:ext cx="64008" cy="786384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644384" y="4453128"/>
            <a:ext cx="3630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0B2447"/>
                </a:solidFill>
              </a:rPr>
              <a:t>NEXT ACTION</a:t>
            </a:r>
            <a:endParaRPr lang="en-US" sz="1080" dirty="0"/>
          </a:p>
        </p:txBody>
      </p:sp>
      <p:sp>
        <p:nvSpPr>
          <p:cNvPr id="52" name="Text 50"/>
          <p:cNvSpPr/>
          <p:nvPr/>
        </p:nvSpPr>
        <p:spPr>
          <a:xfrm>
            <a:off x="7644384" y="4773168"/>
            <a:ext cx="3630168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5" dirty="0">
                <a:solidFill>
                  <a:srgbClr val="183247"/>
                </a:solidFill>
              </a:rPr>
              <a:t>Scope the evidence gate.</a:t>
            </a:r>
            <a:endParaRPr lang="en-US" sz="825" dirty="0"/>
          </a:p>
        </p:txBody>
      </p:sp>
      <p:sp>
        <p:nvSpPr>
          <p:cNvPr id="53" name="Shape 51"/>
          <p:cNvSpPr/>
          <p:nvPr/>
        </p:nvSpPr>
        <p:spPr>
          <a:xfrm>
            <a:off x="676656" y="5212080"/>
            <a:ext cx="310896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76656" y="5212080"/>
            <a:ext cx="64008" cy="786384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41248" y="5321808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0B2447"/>
                </a:solidFill>
              </a:rPr>
              <a:t>What would stop the program?</a:t>
            </a:r>
            <a:endParaRPr lang="en-US" sz="1080" dirty="0"/>
          </a:p>
        </p:txBody>
      </p:sp>
      <p:sp>
        <p:nvSpPr>
          <p:cNvPr id="56" name="Text 54"/>
          <p:cNvSpPr/>
          <p:nvPr/>
        </p:nvSpPr>
        <p:spPr>
          <a:xfrm>
            <a:off x="841248" y="5641848"/>
            <a:ext cx="2852928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5" dirty="0">
                <a:solidFill>
                  <a:srgbClr val="183247"/>
                </a:solidFill>
              </a:rPr>
              <a:t>Phase-1 falsification criteria.</a:t>
            </a:r>
            <a:endParaRPr lang="en-US" sz="825" dirty="0"/>
          </a:p>
        </p:txBody>
      </p:sp>
      <p:sp>
        <p:nvSpPr>
          <p:cNvPr id="57" name="Shape 55"/>
          <p:cNvSpPr/>
          <p:nvPr/>
        </p:nvSpPr>
        <p:spPr>
          <a:xfrm>
            <a:off x="3977640" y="5212080"/>
            <a:ext cx="3291840" cy="786384"/>
          </a:xfrm>
          <a:prstGeom prst="roundRect">
            <a:avLst>
              <a:gd name="adj" fmla="val 9302"/>
            </a:avLst>
          </a:prstGeom>
          <a:solidFill>
            <a:srgbClr val="FFF6D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977640" y="5212080"/>
            <a:ext cx="64008" cy="786384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142232" y="5321808"/>
            <a:ext cx="3035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0B2447"/>
                </a:solidFill>
              </a:rPr>
              <a:t>LIMITATION</a:t>
            </a:r>
            <a:endParaRPr lang="en-US" sz="1080" dirty="0"/>
          </a:p>
        </p:txBody>
      </p:sp>
      <p:sp>
        <p:nvSpPr>
          <p:cNvPr id="60" name="Text 58"/>
          <p:cNvSpPr/>
          <p:nvPr/>
        </p:nvSpPr>
        <p:spPr>
          <a:xfrm>
            <a:off x="4142232" y="5641848"/>
            <a:ext cx="3035808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5" dirty="0">
                <a:solidFill>
                  <a:srgbClr val="183247"/>
                </a:solidFill>
              </a:rPr>
              <a:t>Agree stop criteria before deeper spend.</a:t>
            </a:r>
            <a:endParaRPr lang="en-US" sz="825" dirty="0"/>
          </a:p>
        </p:txBody>
      </p:sp>
      <p:sp>
        <p:nvSpPr>
          <p:cNvPr id="61" name="Shape 59"/>
          <p:cNvSpPr/>
          <p:nvPr/>
        </p:nvSpPr>
        <p:spPr>
          <a:xfrm>
            <a:off x="7479792" y="5212080"/>
            <a:ext cx="388620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479792" y="5212080"/>
            <a:ext cx="64008" cy="786384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644384" y="5321808"/>
            <a:ext cx="3630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0B2447"/>
                </a:solidFill>
              </a:rPr>
              <a:t>NEXT ACTION</a:t>
            </a:r>
            <a:endParaRPr lang="en-US" sz="1080" dirty="0"/>
          </a:p>
        </p:txBody>
      </p:sp>
      <p:sp>
        <p:nvSpPr>
          <p:cNvPr id="64" name="Text 62"/>
          <p:cNvSpPr/>
          <p:nvPr/>
        </p:nvSpPr>
        <p:spPr>
          <a:xfrm>
            <a:off x="7644384" y="5641848"/>
            <a:ext cx="3630168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5" dirty="0">
                <a:solidFill>
                  <a:srgbClr val="183247"/>
                </a:solidFill>
              </a:rPr>
              <a:t>Scope the evidence gate.</a:t>
            </a:r>
            <a:endParaRPr lang="en-US" sz="825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38404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7A75"/>
                </a:solidFill>
              </a:rPr>
              <a:t>RED TEAM / FALSIFICATION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12648" y="621792"/>
            <a:ext cx="10835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447"/>
                </a:solidFill>
              </a:rPr>
              <a:t>The program should actively try to break its own hypothesis.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30936" y="1207008"/>
            <a:ext cx="10561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25466"/>
                </a:solidFill>
              </a:rPr>
              <a:t>Credibility improves when the project can state what would make it stop.</a:t>
            </a:r>
            <a:endParaRPr lang="en-US" sz="1080" dirty="0"/>
          </a:p>
        </p:txBody>
      </p:sp>
      <p:sp>
        <p:nvSpPr>
          <p:cNvPr id="5" name="Shape 3"/>
          <p:cNvSpPr/>
          <p:nvPr/>
        </p:nvSpPr>
        <p:spPr>
          <a:xfrm>
            <a:off x="713232" y="1664208"/>
            <a:ext cx="4937760" cy="694944"/>
          </a:xfrm>
          <a:prstGeom prst="roundRect">
            <a:avLst>
              <a:gd name="adj" fmla="val 10526"/>
            </a:avLst>
          </a:prstGeom>
          <a:solidFill>
            <a:srgbClr val="FDECEC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664208"/>
            <a:ext cx="64008" cy="694944"/>
          </a:xfrm>
          <a:prstGeom prst="rect">
            <a:avLst/>
          </a:prstGeom>
          <a:solidFill>
            <a:srgbClr val="B23A3A"/>
          </a:solidFill>
          <a:ln w="12700">
            <a:solidFill>
              <a:srgbClr val="B23A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1773936"/>
            <a:ext cx="4681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2447"/>
                </a:solidFill>
              </a:rPr>
              <a:t>Could packaging invalidate it?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77824" y="2093976"/>
            <a:ext cx="4681728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83247"/>
                </a:solidFill>
              </a:rPr>
              <a:t>Test with vehicle-specific envelope and interfaces.</a:t>
            </a:r>
            <a:endParaRPr lang="en-US" sz="860" dirty="0"/>
          </a:p>
        </p:txBody>
      </p:sp>
      <p:sp>
        <p:nvSpPr>
          <p:cNvPr id="9" name="Shape 7"/>
          <p:cNvSpPr/>
          <p:nvPr/>
        </p:nvSpPr>
        <p:spPr>
          <a:xfrm>
            <a:off x="5925312" y="1664208"/>
            <a:ext cx="5230368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25312" y="1664208"/>
            <a:ext cx="64008" cy="694944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89904" y="1773936"/>
            <a:ext cx="4974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2447"/>
                </a:solidFill>
              </a:rPr>
              <a:t>Falsification logic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089904" y="2093976"/>
            <a:ext cx="497433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83247"/>
                </a:solidFill>
              </a:rPr>
              <a:t>Define the minimum discriminating evidence before full-scale spend.</a:t>
            </a:r>
            <a:endParaRPr lang="en-US" sz="860" dirty="0"/>
          </a:p>
        </p:txBody>
      </p:sp>
      <p:sp>
        <p:nvSpPr>
          <p:cNvPr id="13" name="Shape 11"/>
          <p:cNvSpPr/>
          <p:nvPr/>
        </p:nvSpPr>
        <p:spPr>
          <a:xfrm>
            <a:off x="713232" y="2450592"/>
            <a:ext cx="4937760" cy="694944"/>
          </a:xfrm>
          <a:prstGeom prst="roundRect">
            <a:avLst>
              <a:gd name="adj" fmla="val 10526"/>
            </a:avLst>
          </a:prstGeom>
          <a:solidFill>
            <a:srgbClr val="FDECEC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3232" y="2450592"/>
            <a:ext cx="64008" cy="694944"/>
          </a:xfrm>
          <a:prstGeom prst="rect">
            <a:avLst/>
          </a:prstGeom>
          <a:solidFill>
            <a:srgbClr val="B23A3A"/>
          </a:solidFill>
          <a:ln w="12700">
            <a:solidFill>
              <a:srgbClr val="B23A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7824" y="2560320"/>
            <a:ext cx="4681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2447"/>
                </a:solidFill>
              </a:rPr>
              <a:t>Could kinematics become unworkable?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77824" y="2880360"/>
            <a:ext cx="4681728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83247"/>
                </a:solidFill>
              </a:rPr>
              <a:t>Test joint / end-stop / interference feasibility.</a:t>
            </a:r>
            <a:endParaRPr lang="en-US" sz="860" dirty="0"/>
          </a:p>
        </p:txBody>
      </p:sp>
      <p:sp>
        <p:nvSpPr>
          <p:cNvPr id="17" name="Shape 15"/>
          <p:cNvSpPr/>
          <p:nvPr/>
        </p:nvSpPr>
        <p:spPr>
          <a:xfrm>
            <a:off x="5925312" y="2450592"/>
            <a:ext cx="5230368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25312" y="2450592"/>
            <a:ext cx="64008" cy="694944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89904" y="2560320"/>
            <a:ext cx="4974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2447"/>
                </a:solidFill>
              </a:rPr>
              <a:t>Falsification logic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089904" y="2880360"/>
            <a:ext cx="497433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83247"/>
                </a:solidFill>
              </a:rPr>
              <a:t>Define the minimum discriminating evidence before full-scale spend.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713232" y="3236976"/>
            <a:ext cx="4937760" cy="694944"/>
          </a:xfrm>
          <a:prstGeom prst="roundRect">
            <a:avLst>
              <a:gd name="adj" fmla="val 10526"/>
            </a:avLst>
          </a:prstGeom>
          <a:solidFill>
            <a:srgbClr val="FDECEC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3232" y="3236976"/>
            <a:ext cx="64008" cy="694944"/>
          </a:xfrm>
          <a:prstGeom prst="rect">
            <a:avLst/>
          </a:prstGeom>
          <a:solidFill>
            <a:srgbClr val="B23A3A"/>
          </a:solidFill>
          <a:ln w="12700">
            <a:solidFill>
              <a:srgbClr val="B23A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77824" y="3346704"/>
            <a:ext cx="4681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2447"/>
                </a:solidFill>
              </a:rPr>
              <a:t>Could load paths become asymmetric?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77824" y="3666744"/>
            <a:ext cx="4681728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83247"/>
                </a:solidFill>
              </a:rPr>
              <a:t>Measure bilateral reactions / structural response.</a:t>
            </a:r>
            <a:endParaRPr lang="en-US" sz="860" dirty="0"/>
          </a:p>
        </p:txBody>
      </p:sp>
      <p:sp>
        <p:nvSpPr>
          <p:cNvPr id="25" name="Shape 23"/>
          <p:cNvSpPr/>
          <p:nvPr/>
        </p:nvSpPr>
        <p:spPr>
          <a:xfrm>
            <a:off x="5925312" y="3236976"/>
            <a:ext cx="5230368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25312" y="3236976"/>
            <a:ext cx="64008" cy="694944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89904" y="3346704"/>
            <a:ext cx="4974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2447"/>
                </a:solidFill>
              </a:rPr>
              <a:t>Falsification logic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089904" y="3666744"/>
            <a:ext cx="497433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83247"/>
                </a:solidFill>
              </a:rPr>
              <a:t>Define the minimum discriminating evidence before full-scale spend.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713232" y="4023360"/>
            <a:ext cx="4937760" cy="694944"/>
          </a:xfrm>
          <a:prstGeom prst="roundRect">
            <a:avLst>
              <a:gd name="adj" fmla="val 10526"/>
            </a:avLst>
          </a:prstGeom>
          <a:solidFill>
            <a:srgbClr val="FDECEC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13232" y="4023360"/>
            <a:ext cx="64008" cy="694944"/>
          </a:xfrm>
          <a:prstGeom prst="rect">
            <a:avLst/>
          </a:prstGeom>
          <a:solidFill>
            <a:srgbClr val="B23A3A"/>
          </a:solidFill>
          <a:ln w="12700">
            <a:solidFill>
              <a:srgbClr val="B23A3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77824" y="4133088"/>
            <a:ext cx="4681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2447"/>
                </a:solidFill>
              </a:rPr>
              <a:t>Could component behavior be unsuitable?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77824" y="4453128"/>
            <a:ext cx="4681728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83247"/>
                </a:solidFill>
              </a:rPr>
              <a:t>Characterize force / displacement / rebound behavior.</a:t>
            </a:r>
            <a:endParaRPr lang="en-US" sz="860" dirty="0"/>
          </a:p>
        </p:txBody>
      </p:sp>
      <p:sp>
        <p:nvSpPr>
          <p:cNvPr id="33" name="Shape 31"/>
          <p:cNvSpPr/>
          <p:nvPr/>
        </p:nvSpPr>
        <p:spPr>
          <a:xfrm>
            <a:off x="5925312" y="4023360"/>
            <a:ext cx="5230368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925312" y="4023360"/>
            <a:ext cx="64008" cy="694944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89904" y="4133088"/>
            <a:ext cx="4974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2447"/>
                </a:solidFill>
              </a:rPr>
              <a:t>Falsification logic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089904" y="4453128"/>
            <a:ext cx="497433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83247"/>
                </a:solidFill>
              </a:rPr>
              <a:t>Define the minimum discriminating evidence before full-scale spend.</a:t>
            </a:r>
            <a:endParaRPr lang="en-US" sz="860" dirty="0"/>
          </a:p>
        </p:txBody>
      </p:sp>
      <p:sp>
        <p:nvSpPr>
          <p:cNvPr id="37" name="Shape 35"/>
          <p:cNvSpPr/>
          <p:nvPr/>
        </p:nvSpPr>
        <p:spPr>
          <a:xfrm>
            <a:off x="713232" y="4809744"/>
            <a:ext cx="4937760" cy="694944"/>
          </a:xfrm>
          <a:prstGeom prst="roundRect">
            <a:avLst>
              <a:gd name="adj" fmla="val 10526"/>
            </a:avLst>
          </a:prstGeom>
          <a:solidFill>
            <a:srgbClr val="FDECEC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13232" y="4809744"/>
            <a:ext cx="64008" cy="694944"/>
          </a:xfrm>
          <a:prstGeom prst="rect">
            <a:avLst/>
          </a:prstGeom>
          <a:solidFill>
            <a:srgbClr val="B23A3A"/>
          </a:solidFill>
          <a:ln w="12700">
            <a:solidFill>
              <a:srgbClr val="B23A3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77824" y="4919472"/>
            <a:ext cx="4681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2447"/>
                </a:solidFill>
              </a:rPr>
              <a:t>Could test data fail to correlate?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77824" y="5239512"/>
            <a:ext cx="4681728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83247"/>
                </a:solidFill>
              </a:rPr>
              <a:t>Define comparable observables + configuration controls.</a:t>
            </a:r>
            <a:endParaRPr lang="en-US" sz="860" dirty="0"/>
          </a:p>
        </p:txBody>
      </p:sp>
      <p:sp>
        <p:nvSpPr>
          <p:cNvPr id="41" name="Shape 39"/>
          <p:cNvSpPr/>
          <p:nvPr/>
        </p:nvSpPr>
        <p:spPr>
          <a:xfrm>
            <a:off x="5925312" y="4809744"/>
            <a:ext cx="5230368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925312" y="4809744"/>
            <a:ext cx="64008" cy="694944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089904" y="4919472"/>
            <a:ext cx="4974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2447"/>
                </a:solidFill>
              </a:rPr>
              <a:t>Falsification logic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089904" y="5239512"/>
            <a:ext cx="497433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83247"/>
                </a:solidFill>
              </a:rPr>
              <a:t>Define the minimum discriminating evidence before full-scale spend.</a:t>
            </a:r>
            <a:endParaRPr lang="en-US" sz="860" dirty="0"/>
          </a:p>
        </p:txBody>
      </p:sp>
      <p:sp>
        <p:nvSpPr>
          <p:cNvPr id="45" name="Text 43"/>
          <p:cNvSpPr/>
          <p:nvPr/>
        </p:nvSpPr>
        <p:spPr>
          <a:xfrm>
            <a:off x="914400" y="5504688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0B2447"/>
                </a:solidFill>
              </a:rPr>
              <a:t>Question to the counterpart: “What is the cheapest credible test you would trust to challenge this hypothesis?”</a:t>
            </a:r>
            <a:endParaRPr lang="en-US" sz="13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38404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7A75"/>
                </a:solidFill>
              </a:rPr>
              <a:t>PROBLEM-SOLVING WORKSHOP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12648" y="621792"/>
            <a:ext cx="10835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447"/>
                </a:solidFill>
              </a:rPr>
              <a:t>Turn disagreements into evidence decisions.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30936" y="1207008"/>
            <a:ext cx="10561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25466"/>
                </a:solidFill>
              </a:rPr>
              <a:t>Use the same conversion grammar for requirements, packaging, kinematics, loads and testability.</a:t>
            </a:r>
            <a:endParaRPr lang="en-US" sz="1080" dirty="0"/>
          </a:p>
        </p:txBody>
      </p:sp>
      <p:sp>
        <p:nvSpPr>
          <p:cNvPr id="5" name="Shape 3"/>
          <p:cNvSpPr/>
          <p:nvPr/>
        </p:nvSpPr>
        <p:spPr>
          <a:xfrm>
            <a:off x="438912" y="1965960"/>
            <a:ext cx="1399032" cy="1481328"/>
          </a:xfrm>
          <a:prstGeom prst="roundRect">
            <a:avLst>
              <a:gd name="adj" fmla="val 5229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8912" y="1965960"/>
            <a:ext cx="64008" cy="1481328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3504" y="207568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B2447"/>
                </a:solidFill>
              </a:rPr>
              <a:t>Problem</a:t>
            </a:r>
            <a:endParaRPr lang="en-US" sz="920" dirty="0"/>
          </a:p>
        </p:txBody>
      </p:sp>
      <p:sp>
        <p:nvSpPr>
          <p:cNvPr id="8" name="Text 6"/>
          <p:cNvSpPr/>
          <p:nvPr/>
        </p:nvSpPr>
        <p:spPr>
          <a:xfrm>
            <a:off x="603504" y="2395728"/>
            <a:ext cx="1143000" cy="969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183247"/>
                </a:solidFill>
              </a:rPr>
              <a:t>State the issue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1847088" y="2706624"/>
            <a:ext cx="82296" cy="0"/>
          </a:xfrm>
          <a:prstGeom prst="line">
            <a:avLst/>
          </a:prstGeom>
          <a:noFill/>
          <a:ln w="10795">
            <a:solidFill>
              <a:srgbClr val="425466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1883664" y="1965960"/>
            <a:ext cx="1399032" cy="1481328"/>
          </a:xfrm>
          <a:prstGeom prst="roundRect">
            <a:avLst>
              <a:gd name="adj" fmla="val 5229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83664" y="1965960"/>
            <a:ext cx="64008" cy="1481328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48256" y="207568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B2447"/>
                </a:solidFill>
              </a:rPr>
              <a:t>Hypotheses</a:t>
            </a:r>
            <a:endParaRPr lang="en-US" sz="920" dirty="0"/>
          </a:p>
        </p:txBody>
      </p:sp>
      <p:sp>
        <p:nvSpPr>
          <p:cNvPr id="13" name="Text 11"/>
          <p:cNvSpPr/>
          <p:nvPr/>
        </p:nvSpPr>
        <p:spPr>
          <a:xfrm>
            <a:off x="2048256" y="2395728"/>
            <a:ext cx="1143000" cy="969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183247"/>
                </a:solidFill>
              </a:rPr>
              <a:t>List possible causes</a:t>
            </a:r>
            <a:endParaRPr lang="en-US" sz="740" dirty="0"/>
          </a:p>
        </p:txBody>
      </p:sp>
      <p:sp>
        <p:nvSpPr>
          <p:cNvPr id="14" name="Shape 12"/>
          <p:cNvSpPr/>
          <p:nvPr/>
        </p:nvSpPr>
        <p:spPr>
          <a:xfrm>
            <a:off x="3291840" y="2706624"/>
            <a:ext cx="82296" cy="0"/>
          </a:xfrm>
          <a:prstGeom prst="line">
            <a:avLst/>
          </a:prstGeom>
          <a:noFill/>
          <a:ln w="10795">
            <a:solidFill>
              <a:srgbClr val="425466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328416" y="1965960"/>
            <a:ext cx="1399032" cy="1481328"/>
          </a:xfrm>
          <a:prstGeom prst="roundRect">
            <a:avLst>
              <a:gd name="adj" fmla="val 5229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28416" y="1965960"/>
            <a:ext cx="64008" cy="1481328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93008" y="207568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B2447"/>
                </a:solidFill>
              </a:rPr>
              <a:t>Constraints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3493008" y="2395728"/>
            <a:ext cx="1143000" cy="969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183247"/>
                </a:solidFill>
              </a:rPr>
              <a:t>Freeze what cannot move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4736592" y="2706624"/>
            <a:ext cx="82296" cy="0"/>
          </a:xfrm>
          <a:prstGeom prst="line">
            <a:avLst/>
          </a:prstGeom>
          <a:noFill/>
          <a:ln w="10795">
            <a:solidFill>
              <a:srgbClr val="425466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773168" y="1965960"/>
            <a:ext cx="1399032" cy="1481328"/>
          </a:xfrm>
          <a:prstGeom prst="roundRect">
            <a:avLst>
              <a:gd name="adj" fmla="val 5229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73168" y="1965960"/>
            <a:ext cx="64008" cy="1481328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207568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B2447"/>
                </a:solidFill>
              </a:rPr>
              <a:t>Alternatives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4937760" y="2395728"/>
            <a:ext cx="1143000" cy="969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183247"/>
                </a:solidFill>
              </a:rPr>
              <a:t>Generate bounded options</a:t>
            </a:r>
            <a:endParaRPr lang="en-US" sz="740" dirty="0"/>
          </a:p>
        </p:txBody>
      </p:sp>
      <p:sp>
        <p:nvSpPr>
          <p:cNvPr id="24" name="Shape 22"/>
          <p:cNvSpPr/>
          <p:nvPr/>
        </p:nvSpPr>
        <p:spPr>
          <a:xfrm>
            <a:off x="6181344" y="2706624"/>
            <a:ext cx="82296" cy="0"/>
          </a:xfrm>
          <a:prstGeom prst="line">
            <a:avLst/>
          </a:prstGeom>
          <a:noFill/>
          <a:ln w="10795">
            <a:solidFill>
              <a:srgbClr val="425466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217920" y="1965960"/>
            <a:ext cx="1399032" cy="1481328"/>
          </a:xfrm>
          <a:prstGeom prst="roundRect">
            <a:avLst>
              <a:gd name="adj" fmla="val 5229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17920" y="1965960"/>
            <a:ext cx="64008" cy="1481328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82512" y="207568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B2447"/>
                </a:solidFill>
              </a:rPr>
              <a:t>Evidence</a:t>
            </a:r>
            <a:endParaRPr lang="en-US" sz="920" dirty="0"/>
          </a:p>
        </p:txBody>
      </p:sp>
      <p:sp>
        <p:nvSpPr>
          <p:cNvPr id="28" name="Text 26"/>
          <p:cNvSpPr/>
          <p:nvPr/>
        </p:nvSpPr>
        <p:spPr>
          <a:xfrm>
            <a:off x="6382512" y="2395728"/>
            <a:ext cx="1143000" cy="969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183247"/>
                </a:solidFill>
              </a:rPr>
              <a:t>Define what distinguishes them</a:t>
            </a:r>
            <a:endParaRPr lang="en-US" sz="740" dirty="0"/>
          </a:p>
        </p:txBody>
      </p:sp>
      <p:sp>
        <p:nvSpPr>
          <p:cNvPr id="29" name="Shape 27"/>
          <p:cNvSpPr/>
          <p:nvPr/>
        </p:nvSpPr>
        <p:spPr>
          <a:xfrm>
            <a:off x="7626096" y="2706624"/>
            <a:ext cx="82296" cy="0"/>
          </a:xfrm>
          <a:prstGeom prst="line">
            <a:avLst/>
          </a:prstGeom>
          <a:noFill/>
          <a:ln w="10795">
            <a:solidFill>
              <a:srgbClr val="425466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662672" y="1965960"/>
            <a:ext cx="1399032" cy="1481328"/>
          </a:xfrm>
          <a:prstGeom prst="roundRect">
            <a:avLst>
              <a:gd name="adj" fmla="val 5229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662672" y="1965960"/>
            <a:ext cx="64008" cy="1481328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827264" y="207568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B2447"/>
                </a:solidFill>
              </a:rPr>
              <a:t>Falsification</a:t>
            </a:r>
            <a:endParaRPr lang="en-US" sz="920" dirty="0"/>
          </a:p>
        </p:txBody>
      </p:sp>
      <p:sp>
        <p:nvSpPr>
          <p:cNvPr id="33" name="Text 31"/>
          <p:cNvSpPr/>
          <p:nvPr/>
        </p:nvSpPr>
        <p:spPr>
          <a:xfrm>
            <a:off x="7827264" y="2395728"/>
            <a:ext cx="1143000" cy="969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183247"/>
                </a:solidFill>
              </a:rPr>
              <a:t>Try to disprove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9070848" y="2706624"/>
            <a:ext cx="82296" cy="0"/>
          </a:xfrm>
          <a:prstGeom prst="line">
            <a:avLst/>
          </a:prstGeom>
          <a:noFill/>
          <a:ln w="10795">
            <a:solidFill>
              <a:srgbClr val="425466"/>
            </a:solidFill>
            <a:prstDash val="solid"/>
            <a:headEnd type="non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9107424" y="1965960"/>
            <a:ext cx="1399032" cy="1481328"/>
          </a:xfrm>
          <a:prstGeom prst="roundRect">
            <a:avLst>
              <a:gd name="adj" fmla="val 5229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107424" y="1965960"/>
            <a:ext cx="64008" cy="1481328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272016" y="207568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B2447"/>
                </a:solidFill>
              </a:rPr>
              <a:t>Decision</a:t>
            </a:r>
            <a:endParaRPr lang="en-US" sz="920" dirty="0"/>
          </a:p>
        </p:txBody>
      </p:sp>
      <p:sp>
        <p:nvSpPr>
          <p:cNvPr id="38" name="Text 36"/>
          <p:cNvSpPr/>
          <p:nvPr/>
        </p:nvSpPr>
        <p:spPr>
          <a:xfrm>
            <a:off x="9272016" y="2395728"/>
            <a:ext cx="1143000" cy="969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183247"/>
                </a:solidFill>
              </a:rPr>
              <a:t>Choose / defer / stop</a:t>
            </a:r>
            <a:endParaRPr lang="en-US" sz="740" dirty="0"/>
          </a:p>
        </p:txBody>
      </p:sp>
      <p:sp>
        <p:nvSpPr>
          <p:cNvPr id="39" name="Shape 37"/>
          <p:cNvSpPr/>
          <p:nvPr/>
        </p:nvSpPr>
        <p:spPr>
          <a:xfrm>
            <a:off x="10515600" y="2706624"/>
            <a:ext cx="82296" cy="0"/>
          </a:xfrm>
          <a:prstGeom prst="line">
            <a:avLst/>
          </a:prstGeom>
          <a:noFill/>
          <a:ln w="10795">
            <a:solidFill>
              <a:srgbClr val="425466"/>
            </a:solidFill>
            <a:prstDash val="solid"/>
            <a:headEnd type="none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10552176" y="1965960"/>
            <a:ext cx="1399032" cy="1481328"/>
          </a:xfrm>
          <a:prstGeom prst="roundRect">
            <a:avLst>
              <a:gd name="adj" fmla="val 5229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552176" y="1965960"/>
            <a:ext cx="64008" cy="1481328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716768" y="207568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B2447"/>
                </a:solidFill>
              </a:rPr>
              <a:t>Owner / Deadline</a:t>
            </a:r>
            <a:endParaRPr lang="en-US" sz="920" dirty="0"/>
          </a:p>
        </p:txBody>
      </p:sp>
      <p:sp>
        <p:nvSpPr>
          <p:cNvPr id="43" name="Text 41"/>
          <p:cNvSpPr/>
          <p:nvPr/>
        </p:nvSpPr>
        <p:spPr>
          <a:xfrm>
            <a:off x="10716768" y="2395728"/>
            <a:ext cx="1143000" cy="969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183247"/>
                </a:solidFill>
              </a:rPr>
              <a:t>Make it executable</a:t>
            </a:r>
            <a:endParaRPr lang="en-US" sz="740" dirty="0"/>
          </a:p>
        </p:txBody>
      </p:sp>
      <p:sp>
        <p:nvSpPr>
          <p:cNvPr id="44" name="Shape 42"/>
          <p:cNvSpPr/>
          <p:nvPr/>
        </p:nvSpPr>
        <p:spPr>
          <a:xfrm>
            <a:off x="1097280" y="4224528"/>
            <a:ext cx="9966960" cy="914400"/>
          </a:xfrm>
          <a:prstGeom prst="roundRect">
            <a:avLst>
              <a:gd name="adj" fmla="val 8000"/>
            </a:avLst>
          </a:prstGeom>
          <a:solidFill>
            <a:srgbClr val="FFF6D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97280" y="4224528"/>
            <a:ext cx="64008" cy="914400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261872" y="4334256"/>
            <a:ext cx="9710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2447"/>
                </a:solidFill>
              </a:rPr>
              <a:t>Example topics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1261872" y="4654296"/>
            <a:ext cx="9710928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3247"/>
                </a:solidFill>
              </a:rPr>
              <a:t>Requirement conflict • Packaging/BIW interface • Kinematic feasibility • Load/energy uncertainty • Testability/correlation</a:t>
            </a:r>
            <a:endParaRPr lang="en-US" sz="9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38404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7A75"/>
                </a:solidFill>
              </a:rPr>
              <a:t>BRAINSTORMING &amp; CHANGE GOVERNANCE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12648" y="621792"/>
            <a:ext cx="10835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447"/>
                </a:solidFill>
              </a:rPr>
              <a:t>Ideas are welcome. Uncontrolled baseline changes are not.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30936" y="1207008"/>
            <a:ext cx="10561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25466"/>
                </a:solidFill>
              </a:rPr>
              <a:t>Every idea receives a classification before it becomes an engineering action.</a:t>
            </a:r>
            <a:endParaRPr lang="en-US" sz="1080" dirty="0"/>
          </a:p>
        </p:txBody>
      </p:sp>
      <p:sp>
        <p:nvSpPr>
          <p:cNvPr id="5" name="Shape 3"/>
          <p:cNvSpPr/>
          <p:nvPr/>
        </p:nvSpPr>
        <p:spPr>
          <a:xfrm>
            <a:off x="658368" y="2029968"/>
            <a:ext cx="265176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2029968"/>
            <a:ext cx="64008" cy="2057400"/>
          </a:xfrm>
          <a:prstGeom prst="rect">
            <a:avLst/>
          </a:prstGeom>
          <a:solidFill>
            <a:srgbClr val="1F7A5C"/>
          </a:solidFill>
          <a:ln w="12700">
            <a:solidFill>
              <a:srgbClr val="1F7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139696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0B2447"/>
                </a:solidFill>
              </a:rPr>
              <a:t>A  Compatible Improvement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822960" y="2459736"/>
            <a:ext cx="2395728" cy="1545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83247"/>
                </a:solidFill>
              </a:rPr>
              <a:t>Fits current Design Intent / boundary</a:t>
            </a:r>
            <a:endParaRPr lang="en-US" sz="940" dirty="0"/>
          </a:p>
        </p:txBody>
      </p:sp>
      <p:sp>
        <p:nvSpPr>
          <p:cNvPr id="9" name="Shape 7"/>
          <p:cNvSpPr/>
          <p:nvPr/>
        </p:nvSpPr>
        <p:spPr>
          <a:xfrm>
            <a:off x="3474720" y="2029968"/>
            <a:ext cx="265176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0" y="2029968"/>
            <a:ext cx="64008" cy="2057400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39312" y="2139696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0B2447"/>
                </a:solidFill>
              </a:rPr>
              <a:t>B  Architecture Modification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3639312" y="2459736"/>
            <a:ext cx="2395728" cy="1545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83247"/>
                </a:solidFill>
              </a:rPr>
              <a:t>Changes topology / function</a:t>
            </a:r>
            <a:endParaRPr lang="en-US" sz="940" dirty="0"/>
          </a:p>
        </p:txBody>
      </p:sp>
      <p:sp>
        <p:nvSpPr>
          <p:cNvPr id="13" name="Shape 11"/>
          <p:cNvSpPr/>
          <p:nvPr/>
        </p:nvSpPr>
        <p:spPr>
          <a:xfrm>
            <a:off x="6291072" y="2029968"/>
            <a:ext cx="265176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91072" y="2029968"/>
            <a:ext cx="64008" cy="2057400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55664" y="2139696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0B2447"/>
                </a:solidFill>
              </a:rPr>
              <a:t>C  Design-Intent Change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6455664" y="2459736"/>
            <a:ext cx="2395728" cy="1545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83247"/>
                </a:solidFill>
              </a:rPr>
              <a:t>Changes protected intent / requirements</a:t>
            </a:r>
            <a:endParaRPr lang="en-US" sz="940" dirty="0"/>
          </a:p>
        </p:txBody>
      </p:sp>
      <p:sp>
        <p:nvSpPr>
          <p:cNvPr id="17" name="Shape 15"/>
          <p:cNvSpPr/>
          <p:nvPr/>
        </p:nvSpPr>
        <p:spPr>
          <a:xfrm>
            <a:off x="9107424" y="2029968"/>
            <a:ext cx="265176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07424" y="2029968"/>
            <a:ext cx="64008" cy="2057400"/>
          </a:xfrm>
          <a:prstGeom prst="rect">
            <a:avLst/>
          </a:prstGeom>
          <a:solidFill>
            <a:srgbClr val="B23A3A"/>
          </a:solidFill>
          <a:ln w="12700">
            <a:solidFill>
              <a:srgbClr val="B23A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72016" y="2139696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0B2447"/>
                </a:solidFill>
              </a:rPr>
              <a:t>D  IP / Disclosure Conflict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9272016" y="2459736"/>
            <a:ext cx="2395728" cy="1545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83247"/>
                </a:solidFill>
              </a:rPr>
              <a:t>Requires stop + escalation</a:t>
            </a:r>
            <a:endParaRPr lang="en-US" sz="940" dirty="0"/>
          </a:p>
        </p:txBody>
      </p:sp>
      <p:sp>
        <p:nvSpPr>
          <p:cNvPr id="21" name="Text 19"/>
          <p:cNvSpPr/>
          <p:nvPr/>
        </p:nvSpPr>
        <p:spPr>
          <a:xfrm>
            <a:off x="914400" y="4663440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447"/>
                </a:solidFill>
              </a:rPr>
              <a:t>Idea → Technical Impact → Evidence → Decision → Owner → Deadline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315968" y="5376672"/>
            <a:ext cx="2880360" cy="292608"/>
          </a:xfrm>
          <a:prstGeom prst="roundRect">
            <a:avLst>
              <a:gd name="adj" fmla="val 25000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0" y="5436108"/>
            <a:ext cx="2734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B23A3A"/>
                </a:solidFill>
              </a:rPr>
              <a:t>NO AUTOMATIC V7 CHANGE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38404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7A75"/>
                </a:solidFill>
              </a:rPr>
              <a:t>TEAM / DECISION / ACTION GOVERNANCE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12648" y="621792"/>
            <a:ext cx="10835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447"/>
                </a:solidFill>
              </a:rPr>
              <a:t>One task = one accountable owner = one deadline.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30936" y="1207008"/>
            <a:ext cx="10561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25466"/>
                </a:solidFill>
              </a:rPr>
              <a:t>Meeting quality depends on converting conversation into traceable execution.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731520" y="157276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425466"/>
                </a:solidFill>
              </a:rPr>
              <a:t>Requirements</a:t>
            </a:r>
            <a:endParaRPr lang="en-US" sz="920" dirty="0"/>
          </a:p>
        </p:txBody>
      </p:sp>
      <p:sp>
        <p:nvSpPr>
          <p:cNvPr id="6" name="Shape 4"/>
          <p:cNvSpPr/>
          <p:nvPr/>
        </p:nvSpPr>
        <p:spPr>
          <a:xfrm>
            <a:off x="2606040" y="1664208"/>
            <a:ext cx="2103120" cy="0"/>
          </a:xfrm>
          <a:prstGeom prst="line">
            <a:avLst/>
          </a:prstGeom>
          <a:noFill/>
          <a:ln w="12700">
            <a:solidFill>
              <a:srgbClr val="D5DC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92040" y="1563624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B2447"/>
                </a:solidFill>
              </a:rPr>
              <a:t>Owner: ______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6583680" y="1563624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B2447"/>
                </a:solidFill>
              </a:rPr>
              <a:t>Deadline: ______</a:t>
            </a:r>
            <a:endParaRPr lang="en-US" sz="880" dirty="0"/>
          </a:p>
        </p:txBody>
      </p:sp>
      <p:sp>
        <p:nvSpPr>
          <p:cNvPr id="9" name="Text 7"/>
          <p:cNvSpPr/>
          <p:nvPr/>
        </p:nvSpPr>
        <p:spPr>
          <a:xfrm>
            <a:off x="8458200" y="156362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25466"/>
                </a:solidFill>
              </a:rPr>
              <a:t>Evidence: ______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731520" y="192938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425466"/>
                </a:solidFill>
              </a:rPr>
              <a:t>CAD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2606040" y="2020824"/>
            <a:ext cx="2103120" cy="0"/>
          </a:xfrm>
          <a:prstGeom prst="line">
            <a:avLst/>
          </a:prstGeom>
          <a:noFill/>
          <a:ln w="12700">
            <a:solidFill>
              <a:srgbClr val="D5DC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92024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B2447"/>
                </a:solidFill>
              </a:rPr>
              <a:t>Owner: ______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6583680" y="192024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B2447"/>
                </a:solidFill>
              </a:rPr>
              <a:t>Deadline: ______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8458200" y="192024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25466"/>
                </a:solidFill>
              </a:rPr>
              <a:t>Evidence: ______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731520" y="22860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425466"/>
                </a:solidFill>
              </a:rPr>
              <a:t>CAE / FE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2606040" y="2377440"/>
            <a:ext cx="2103120" cy="0"/>
          </a:xfrm>
          <a:prstGeom prst="line">
            <a:avLst/>
          </a:prstGeom>
          <a:noFill/>
          <a:ln w="12700">
            <a:solidFill>
              <a:srgbClr val="D5DC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2276856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B2447"/>
                </a:solidFill>
              </a:rPr>
              <a:t>Owner: ______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6583680" y="227685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B2447"/>
                </a:solidFill>
              </a:rPr>
              <a:t>Deadline: ______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8458200" y="227685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25466"/>
                </a:solidFill>
              </a:rPr>
              <a:t>Evidence: ______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731520" y="264261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425466"/>
                </a:solidFill>
              </a:rPr>
              <a:t>Prototype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2606040" y="2734056"/>
            <a:ext cx="2103120" cy="0"/>
          </a:xfrm>
          <a:prstGeom prst="line">
            <a:avLst/>
          </a:prstGeom>
          <a:noFill/>
          <a:ln w="12700">
            <a:solidFill>
              <a:srgbClr val="D5DC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263347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B2447"/>
                </a:solidFill>
              </a:rPr>
              <a:t>Owner: ______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6583680" y="263347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B2447"/>
                </a:solidFill>
              </a:rPr>
              <a:t>Deadline: ______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8458200" y="263347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25466"/>
                </a:solidFill>
              </a:rPr>
              <a:t>Evidence: ______</a:t>
            </a:r>
            <a:endParaRPr lang="en-US" sz="880" dirty="0"/>
          </a:p>
        </p:txBody>
      </p:sp>
      <p:sp>
        <p:nvSpPr>
          <p:cNvPr id="25" name="Text 23"/>
          <p:cNvSpPr/>
          <p:nvPr/>
        </p:nvSpPr>
        <p:spPr>
          <a:xfrm>
            <a:off x="731520" y="299923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425466"/>
                </a:solidFill>
              </a:rPr>
              <a:t>Testing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2606040" y="3090672"/>
            <a:ext cx="2103120" cy="0"/>
          </a:xfrm>
          <a:prstGeom prst="line">
            <a:avLst/>
          </a:prstGeom>
          <a:noFill/>
          <a:ln w="12700">
            <a:solidFill>
              <a:srgbClr val="D5DC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299008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B2447"/>
                </a:solidFill>
              </a:rPr>
              <a:t>Owner: ______</a:t>
            </a:r>
            <a:endParaRPr lang="en-US" sz="880" dirty="0"/>
          </a:p>
        </p:txBody>
      </p:sp>
      <p:sp>
        <p:nvSpPr>
          <p:cNvPr id="28" name="Text 26"/>
          <p:cNvSpPr/>
          <p:nvPr/>
        </p:nvSpPr>
        <p:spPr>
          <a:xfrm>
            <a:off x="6583680" y="299008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B2447"/>
                </a:solidFill>
              </a:rPr>
              <a:t>Deadline: ______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8458200" y="299008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25466"/>
                </a:solidFill>
              </a:rPr>
              <a:t>Evidence: ______</a:t>
            </a:r>
            <a:endParaRPr lang="en-US" sz="880" dirty="0"/>
          </a:p>
        </p:txBody>
      </p:sp>
      <p:sp>
        <p:nvSpPr>
          <p:cNvPr id="30" name="Text 28"/>
          <p:cNvSpPr/>
          <p:nvPr/>
        </p:nvSpPr>
        <p:spPr>
          <a:xfrm>
            <a:off x="731520" y="335584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425466"/>
                </a:solidFill>
              </a:rPr>
              <a:t>Instrumentation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2606040" y="3447288"/>
            <a:ext cx="2103120" cy="0"/>
          </a:xfrm>
          <a:prstGeom prst="line">
            <a:avLst/>
          </a:prstGeom>
          <a:noFill/>
          <a:ln w="12700">
            <a:solidFill>
              <a:srgbClr val="D5DCE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92040" y="3346704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B2447"/>
                </a:solidFill>
              </a:rPr>
              <a:t>Owner: ______</a:t>
            </a:r>
            <a:endParaRPr lang="en-US" sz="880" dirty="0"/>
          </a:p>
        </p:txBody>
      </p:sp>
      <p:sp>
        <p:nvSpPr>
          <p:cNvPr id="33" name="Text 31"/>
          <p:cNvSpPr/>
          <p:nvPr/>
        </p:nvSpPr>
        <p:spPr>
          <a:xfrm>
            <a:off x="6583680" y="3346704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B2447"/>
                </a:solidFill>
              </a:rPr>
              <a:t>Deadline: ______</a:t>
            </a:r>
            <a:endParaRPr lang="en-US" sz="880" dirty="0"/>
          </a:p>
        </p:txBody>
      </p:sp>
      <p:sp>
        <p:nvSpPr>
          <p:cNvPr id="34" name="Text 32"/>
          <p:cNvSpPr/>
          <p:nvPr/>
        </p:nvSpPr>
        <p:spPr>
          <a:xfrm>
            <a:off x="8458200" y="334670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25466"/>
                </a:solidFill>
              </a:rPr>
              <a:t>Evidence: ______</a:t>
            </a:r>
            <a:endParaRPr lang="en-US" sz="880" dirty="0"/>
          </a:p>
        </p:txBody>
      </p:sp>
      <p:sp>
        <p:nvSpPr>
          <p:cNvPr id="35" name="Text 33"/>
          <p:cNvSpPr/>
          <p:nvPr/>
        </p:nvSpPr>
        <p:spPr>
          <a:xfrm>
            <a:off x="731520" y="371246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425466"/>
                </a:solidFill>
              </a:rPr>
              <a:t>Measurement</a:t>
            </a:r>
            <a:endParaRPr lang="en-US" sz="920" dirty="0"/>
          </a:p>
        </p:txBody>
      </p:sp>
      <p:sp>
        <p:nvSpPr>
          <p:cNvPr id="36" name="Shape 34"/>
          <p:cNvSpPr/>
          <p:nvPr/>
        </p:nvSpPr>
        <p:spPr>
          <a:xfrm>
            <a:off x="2606040" y="3803904"/>
            <a:ext cx="2103120" cy="0"/>
          </a:xfrm>
          <a:prstGeom prst="line">
            <a:avLst/>
          </a:prstGeom>
          <a:noFill/>
          <a:ln w="12700">
            <a:solidFill>
              <a:srgbClr val="D5DCE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92040" y="370332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B2447"/>
                </a:solidFill>
              </a:rPr>
              <a:t>Owner: ______</a:t>
            </a:r>
            <a:endParaRPr lang="en-US" sz="880" dirty="0"/>
          </a:p>
        </p:txBody>
      </p:sp>
      <p:sp>
        <p:nvSpPr>
          <p:cNvPr id="38" name="Text 36"/>
          <p:cNvSpPr/>
          <p:nvPr/>
        </p:nvSpPr>
        <p:spPr>
          <a:xfrm>
            <a:off x="6583680" y="370332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B2447"/>
                </a:solidFill>
              </a:rPr>
              <a:t>Deadline: ______</a:t>
            </a:r>
            <a:endParaRPr lang="en-US" sz="880" dirty="0"/>
          </a:p>
        </p:txBody>
      </p:sp>
      <p:sp>
        <p:nvSpPr>
          <p:cNvPr id="39" name="Text 37"/>
          <p:cNvSpPr/>
          <p:nvPr/>
        </p:nvSpPr>
        <p:spPr>
          <a:xfrm>
            <a:off x="8458200" y="370332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25466"/>
                </a:solidFill>
              </a:rPr>
              <a:t>Evidence: ______</a:t>
            </a:r>
            <a:endParaRPr lang="en-US" sz="880" dirty="0"/>
          </a:p>
        </p:txBody>
      </p:sp>
      <p:sp>
        <p:nvSpPr>
          <p:cNvPr id="40" name="Text 38"/>
          <p:cNvSpPr/>
          <p:nvPr/>
        </p:nvSpPr>
        <p:spPr>
          <a:xfrm>
            <a:off x="731520" y="40690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425466"/>
                </a:solidFill>
              </a:rPr>
              <a:t>Correlation</a:t>
            </a:r>
            <a:endParaRPr lang="en-US" sz="920" dirty="0"/>
          </a:p>
        </p:txBody>
      </p:sp>
      <p:sp>
        <p:nvSpPr>
          <p:cNvPr id="41" name="Shape 39"/>
          <p:cNvSpPr/>
          <p:nvPr/>
        </p:nvSpPr>
        <p:spPr>
          <a:xfrm>
            <a:off x="2606040" y="4160520"/>
            <a:ext cx="2103120" cy="0"/>
          </a:xfrm>
          <a:prstGeom prst="line">
            <a:avLst/>
          </a:prstGeom>
          <a:noFill/>
          <a:ln w="12700">
            <a:solidFill>
              <a:srgbClr val="D5DCE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92040" y="4059936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B2447"/>
                </a:solidFill>
              </a:rPr>
              <a:t>Owner: ______</a:t>
            </a:r>
            <a:endParaRPr lang="en-US" sz="880" dirty="0"/>
          </a:p>
        </p:txBody>
      </p:sp>
      <p:sp>
        <p:nvSpPr>
          <p:cNvPr id="43" name="Text 41"/>
          <p:cNvSpPr/>
          <p:nvPr/>
        </p:nvSpPr>
        <p:spPr>
          <a:xfrm>
            <a:off x="6583680" y="405993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B2447"/>
                </a:solidFill>
              </a:rPr>
              <a:t>Deadline: ______</a:t>
            </a:r>
            <a:endParaRPr lang="en-US" sz="880" dirty="0"/>
          </a:p>
        </p:txBody>
      </p:sp>
      <p:sp>
        <p:nvSpPr>
          <p:cNvPr id="44" name="Text 42"/>
          <p:cNvSpPr/>
          <p:nvPr/>
        </p:nvSpPr>
        <p:spPr>
          <a:xfrm>
            <a:off x="8458200" y="405993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25466"/>
                </a:solidFill>
              </a:rPr>
              <a:t>Evidence: ______</a:t>
            </a:r>
            <a:endParaRPr lang="en-US" sz="880" dirty="0"/>
          </a:p>
        </p:txBody>
      </p:sp>
      <p:sp>
        <p:nvSpPr>
          <p:cNvPr id="45" name="Text 43"/>
          <p:cNvSpPr/>
          <p:nvPr/>
        </p:nvSpPr>
        <p:spPr>
          <a:xfrm>
            <a:off x="731520" y="442569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425466"/>
                </a:solidFill>
              </a:rPr>
              <a:t>Evidence</a:t>
            </a:r>
            <a:endParaRPr lang="en-US" sz="920" dirty="0"/>
          </a:p>
        </p:txBody>
      </p:sp>
      <p:sp>
        <p:nvSpPr>
          <p:cNvPr id="46" name="Shape 44"/>
          <p:cNvSpPr/>
          <p:nvPr/>
        </p:nvSpPr>
        <p:spPr>
          <a:xfrm>
            <a:off x="2606040" y="4517136"/>
            <a:ext cx="2103120" cy="0"/>
          </a:xfrm>
          <a:prstGeom prst="line">
            <a:avLst/>
          </a:prstGeom>
          <a:noFill/>
          <a:ln w="12700">
            <a:solidFill>
              <a:srgbClr val="D5DCE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92040" y="441655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B2447"/>
                </a:solidFill>
              </a:rPr>
              <a:t>Owner: ______</a:t>
            </a:r>
            <a:endParaRPr lang="en-US" sz="880" dirty="0"/>
          </a:p>
        </p:txBody>
      </p:sp>
      <p:sp>
        <p:nvSpPr>
          <p:cNvPr id="48" name="Text 46"/>
          <p:cNvSpPr/>
          <p:nvPr/>
        </p:nvSpPr>
        <p:spPr>
          <a:xfrm>
            <a:off x="6583680" y="441655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B2447"/>
                </a:solidFill>
              </a:rPr>
              <a:t>Deadline: ______</a:t>
            </a:r>
            <a:endParaRPr lang="en-US" sz="880" dirty="0"/>
          </a:p>
        </p:txBody>
      </p:sp>
      <p:sp>
        <p:nvSpPr>
          <p:cNvPr id="49" name="Text 47"/>
          <p:cNvSpPr/>
          <p:nvPr/>
        </p:nvSpPr>
        <p:spPr>
          <a:xfrm>
            <a:off x="8458200" y="441655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25466"/>
                </a:solidFill>
              </a:rPr>
              <a:t>Evidence: ______</a:t>
            </a:r>
            <a:endParaRPr lang="en-US" sz="880" dirty="0"/>
          </a:p>
        </p:txBody>
      </p:sp>
      <p:sp>
        <p:nvSpPr>
          <p:cNvPr id="50" name="Text 48"/>
          <p:cNvSpPr/>
          <p:nvPr/>
        </p:nvSpPr>
        <p:spPr>
          <a:xfrm>
            <a:off x="731520" y="478231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425466"/>
                </a:solidFill>
              </a:rPr>
              <a:t>IP / Disclosure</a:t>
            </a:r>
            <a:endParaRPr lang="en-US" sz="920" dirty="0"/>
          </a:p>
        </p:txBody>
      </p:sp>
      <p:sp>
        <p:nvSpPr>
          <p:cNvPr id="51" name="Shape 49"/>
          <p:cNvSpPr/>
          <p:nvPr/>
        </p:nvSpPr>
        <p:spPr>
          <a:xfrm>
            <a:off x="2606040" y="4873752"/>
            <a:ext cx="2103120" cy="0"/>
          </a:xfrm>
          <a:prstGeom prst="line">
            <a:avLst/>
          </a:prstGeom>
          <a:noFill/>
          <a:ln w="12700">
            <a:solidFill>
              <a:srgbClr val="D5DCE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92040" y="477316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B2447"/>
                </a:solidFill>
              </a:rPr>
              <a:t>Owner: ______</a:t>
            </a:r>
            <a:endParaRPr lang="en-US" sz="880" dirty="0"/>
          </a:p>
        </p:txBody>
      </p:sp>
      <p:sp>
        <p:nvSpPr>
          <p:cNvPr id="53" name="Text 51"/>
          <p:cNvSpPr/>
          <p:nvPr/>
        </p:nvSpPr>
        <p:spPr>
          <a:xfrm>
            <a:off x="6583680" y="477316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B2447"/>
                </a:solidFill>
              </a:rPr>
              <a:t>Deadline: ______</a:t>
            </a:r>
            <a:endParaRPr lang="en-US" sz="880" dirty="0"/>
          </a:p>
        </p:txBody>
      </p:sp>
      <p:sp>
        <p:nvSpPr>
          <p:cNvPr id="54" name="Text 52"/>
          <p:cNvSpPr/>
          <p:nvPr/>
        </p:nvSpPr>
        <p:spPr>
          <a:xfrm>
            <a:off x="8458200" y="477316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25466"/>
                </a:solidFill>
              </a:rPr>
              <a:t>Evidence: ______</a:t>
            </a:r>
            <a:endParaRPr lang="en-US" sz="880" dirty="0"/>
          </a:p>
        </p:txBody>
      </p:sp>
      <p:sp>
        <p:nvSpPr>
          <p:cNvPr id="55" name="Text 53"/>
          <p:cNvSpPr/>
          <p:nvPr/>
        </p:nvSpPr>
        <p:spPr>
          <a:xfrm>
            <a:off x="731520" y="513892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425466"/>
                </a:solidFill>
              </a:rPr>
              <a:t>Commercial / Program</a:t>
            </a:r>
            <a:endParaRPr lang="en-US" sz="920" dirty="0"/>
          </a:p>
        </p:txBody>
      </p:sp>
      <p:sp>
        <p:nvSpPr>
          <p:cNvPr id="56" name="Shape 54"/>
          <p:cNvSpPr/>
          <p:nvPr/>
        </p:nvSpPr>
        <p:spPr>
          <a:xfrm>
            <a:off x="2606040" y="5230368"/>
            <a:ext cx="2103120" cy="0"/>
          </a:xfrm>
          <a:prstGeom prst="line">
            <a:avLst/>
          </a:prstGeom>
          <a:noFill/>
          <a:ln w="12700">
            <a:solidFill>
              <a:srgbClr val="D5DCE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92040" y="5129784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B2447"/>
                </a:solidFill>
              </a:rPr>
              <a:t>Owner: ______</a:t>
            </a:r>
            <a:endParaRPr lang="en-US" sz="880" dirty="0"/>
          </a:p>
        </p:txBody>
      </p:sp>
      <p:sp>
        <p:nvSpPr>
          <p:cNvPr id="58" name="Text 56"/>
          <p:cNvSpPr/>
          <p:nvPr/>
        </p:nvSpPr>
        <p:spPr>
          <a:xfrm>
            <a:off x="6583680" y="5129784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B2447"/>
                </a:solidFill>
              </a:rPr>
              <a:t>Deadline: ______</a:t>
            </a:r>
            <a:endParaRPr lang="en-US" sz="880" dirty="0"/>
          </a:p>
        </p:txBody>
      </p:sp>
      <p:sp>
        <p:nvSpPr>
          <p:cNvPr id="59" name="Text 57"/>
          <p:cNvSpPr/>
          <p:nvPr/>
        </p:nvSpPr>
        <p:spPr>
          <a:xfrm>
            <a:off x="8458200" y="512978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25466"/>
                </a:solidFill>
              </a:rPr>
              <a:t>Evidence: ______</a:t>
            </a:r>
            <a:endParaRPr lang="en-US" sz="8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38404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7A75"/>
                </a:solidFill>
              </a:rPr>
              <a:t>TRUST / CREDIBILITY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12648" y="621792"/>
            <a:ext cx="10835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447"/>
                </a:solidFill>
              </a:rPr>
              <a:t>Do not ask the company to trust an unproven claim.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30936" y="1207008"/>
            <a:ext cx="10561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25466"/>
                </a:solidFill>
              </a:rPr>
              <a:t>Ask the company to judge whether the engineering program is controlled enough to test.</a:t>
            </a:r>
            <a:endParaRPr lang="en-US" sz="1080" dirty="0"/>
          </a:p>
        </p:txBody>
      </p:sp>
      <p:sp>
        <p:nvSpPr>
          <p:cNvPr id="5" name="Shape 3"/>
          <p:cNvSpPr/>
          <p:nvPr/>
        </p:nvSpPr>
        <p:spPr>
          <a:xfrm>
            <a:off x="713232" y="1600200"/>
            <a:ext cx="5029200" cy="649224"/>
          </a:xfrm>
          <a:prstGeom prst="roundRect">
            <a:avLst>
              <a:gd name="adj" fmla="val 11268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600200"/>
            <a:ext cx="64008" cy="649224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1709928"/>
            <a:ext cx="4773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0B2447"/>
                </a:solidFill>
              </a:rPr>
              <a:t>Clear problem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877824" y="2029968"/>
            <a:ext cx="4773168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83247"/>
                </a:solidFill>
              </a:rPr>
              <a:t>The engineering question is explicit</a:t>
            </a:r>
            <a:endParaRPr lang="en-US" sz="860" dirty="0"/>
          </a:p>
        </p:txBody>
      </p:sp>
      <p:sp>
        <p:nvSpPr>
          <p:cNvPr id="9" name="Shape 7"/>
          <p:cNvSpPr/>
          <p:nvPr/>
        </p:nvSpPr>
        <p:spPr>
          <a:xfrm>
            <a:off x="713232" y="2322576"/>
            <a:ext cx="5029200" cy="649224"/>
          </a:xfrm>
          <a:prstGeom prst="roundRect">
            <a:avLst>
              <a:gd name="adj" fmla="val 11268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" y="2322576"/>
            <a:ext cx="64008" cy="649224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2432304"/>
            <a:ext cx="4773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0B2447"/>
                </a:solidFill>
              </a:rPr>
              <a:t>Visible gaps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877824" y="2752344"/>
            <a:ext cx="4773168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83247"/>
                </a:solidFill>
              </a:rPr>
              <a:t>Unknowns are named</a:t>
            </a:r>
            <a:endParaRPr lang="en-US" sz="860" dirty="0"/>
          </a:p>
        </p:txBody>
      </p:sp>
      <p:sp>
        <p:nvSpPr>
          <p:cNvPr id="13" name="Shape 11"/>
          <p:cNvSpPr/>
          <p:nvPr/>
        </p:nvSpPr>
        <p:spPr>
          <a:xfrm>
            <a:off x="713232" y="3044952"/>
            <a:ext cx="5029200" cy="649224"/>
          </a:xfrm>
          <a:prstGeom prst="roundRect">
            <a:avLst>
              <a:gd name="adj" fmla="val 11268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3232" y="3044952"/>
            <a:ext cx="64008" cy="649224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7824" y="3154680"/>
            <a:ext cx="4773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0B2447"/>
                </a:solidFill>
              </a:rPr>
              <a:t>Evidence gates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877824" y="3474720"/>
            <a:ext cx="4773168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83247"/>
                </a:solidFill>
              </a:rPr>
              <a:t>Each maturity step has a proof requirement</a:t>
            </a:r>
            <a:endParaRPr lang="en-US" sz="860" dirty="0"/>
          </a:p>
        </p:txBody>
      </p:sp>
      <p:sp>
        <p:nvSpPr>
          <p:cNvPr id="17" name="Shape 15"/>
          <p:cNvSpPr/>
          <p:nvPr/>
        </p:nvSpPr>
        <p:spPr>
          <a:xfrm>
            <a:off x="713232" y="3767328"/>
            <a:ext cx="5029200" cy="649224"/>
          </a:xfrm>
          <a:prstGeom prst="roundRect">
            <a:avLst>
              <a:gd name="adj" fmla="val 11268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3767328"/>
            <a:ext cx="64008" cy="649224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7824" y="3877056"/>
            <a:ext cx="4773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0B2447"/>
                </a:solidFill>
              </a:rPr>
              <a:t>Independent review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877824" y="4197096"/>
            <a:ext cx="4773168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83247"/>
                </a:solidFill>
              </a:rPr>
              <a:t>Peter red-teams before external release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713232" y="4489704"/>
            <a:ext cx="5029200" cy="649224"/>
          </a:xfrm>
          <a:prstGeom prst="roundRect">
            <a:avLst>
              <a:gd name="adj" fmla="val 11268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3232" y="4489704"/>
            <a:ext cx="64008" cy="649224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77824" y="4599432"/>
            <a:ext cx="4773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0B2447"/>
                </a:solidFill>
              </a:rPr>
              <a:t>Bounded milestones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877824" y="4919472"/>
            <a:ext cx="4773168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83247"/>
                </a:solidFill>
              </a:rPr>
              <a:t>Phase-1 has acceptance criteria</a:t>
            </a:r>
            <a:endParaRPr lang="en-US" sz="860" dirty="0"/>
          </a:p>
        </p:txBody>
      </p:sp>
      <p:sp>
        <p:nvSpPr>
          <p:cNvPr id="25" name="Shape 23"/>
          <p:cNvSpPr/>
          <p:nvPr/>
        </p:nvSpPr>
        <p:spPr>
          <a:xfrm>
            <a:off x="713232" y="5212080"/>
            <a:ext cx="5029200" cy="649224"/>
          </a:xfrm>
          <a:prstGeom prst="roundRect">
            <a:avLst>
              <a:gd name="adj" fmla="val 11268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13232" y="5212080"/>
            <a:ext cx="64008" cy="649224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77824" y="5321808"/>
            <a:ext cx="4773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0B2447"/>
                </a:solidFill>
              </a:rPr>
              <a:t>Falsification</a:t>
            </a:r>
            <a:endParaRPr lang="en-US" sz="1080" dirty="0"/>
          </a:p>
        </p:txBody>
      </p:sp>
      <p:sp>
        <p:nvSpPr>
          <p:cNvPr id="28" name="Text 26"/>
          <p:cNvSpPr/>
          <p:nvPr/>
        </p:nvSpPr>
        <p:spPr>
          <a:xfrm>
            <a:off x="877824" y="5641848"/>
            <a:ext cx="4773168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83247"/>
                </a:solidFill>
              </a:rPr>
              <a:t>The program can stop if the hypothesis fails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6080760" y="1783080"/>
            <a:ext cx="5074920" cy="3337560"/>
          </a:xfrm>
          <a:prstGeom prst="roundRect">
            <a:avLst>
              <a:gd name="adj" fmla="val 2192"/>
            </a:avLst>
          </a:prstGeom>
          <a:solidFill>
            <a:srgbClr val="EDF3F9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80760" y="1783080"/>
            <a:ext cx="64008" cy="3337560"/>
          </a:xfrm>
          <a:prstGeom prst="rect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45352" y="1892808"/>
            <a:ext cx="4818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2447"/>
                </a:solidFill>
              </a:rPr>
              <a:t>Credibility statement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245352" y="2212848"/>
            <a:ext cx="4818888" cy="2825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83247"/>
                </a:solidFill>
              </a:rPr>
              <a:t>“We are not asking you to believe that the technology works. We are asking whether the problem, the engineering hypothesis, the evidence path, and the bounded Phase-1 are worth evaluating.”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38404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7A75"/>
                </a:solidFill>
              </a:rPr>
              <a:t>DECISION / NEXT TECHNICAL DECISION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12648" y="621792"/>
            <a:ext cx="10835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447"/>
                </a:solidFill>
              </a:rPr>
              <a:t>Do not end with “Thank you.” End with a measurable next step.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30936" y="1207008"/>
            <a:ext cx="10561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25466"/>
                </a:solidFill>
              </a:rPr>
              <a:t>Complete the fields live before leaving the meeting.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914400" y="166420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0B2447"/>
                </a:solidFill>
              </a:rPr>
              <a:t>Technical Scope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2880360" y="1828800"/>
            <a:ext cx="8138160" cy="0"/>
          </a:xfrm>
          <a:prstGeom prst="line">
            <a:avLst/>
          </a:prstGeom>
          <a:noFill/>
          <a:ln w="12700">
            <a:solidFill>
              <a:srgbClr val="D5DC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99232" y="1682496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25466"/>
                </a:solidFill>
              </a:rPr>
              <a:t>______________________________________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" y="21488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0B2447"/>
                </a:solidFill>
              </a:rPr>
              <a:t>Required Evidence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2880360" y="2313432"/>
            <a:ext cx="8138160" cy="0"/>
          </a:xfrm>
          <a:prstGeom prst="line">
            <a:avLst/>
          </a:prstGeom>
          <a:noFill/>
          <a:ln w="12700">
            <a:solidFill>
              <a:srgbClr val="D5DC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99232" y="2167128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25466"/>
                </a:solidFill>
              </a:rPr>
              <a:t>______________________________________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14400" y="26334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0B2447"/>
                </a:solidFill>
              </a:rPr>
              <a:t>Entry Criteria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2880360" y="2798064"/>
            <a:ext cx="8138160" cy="0"/>
          </a:xfrm>
          <a:prstGeom prst="line">
            <a:avLst/>
          </a:prstGeom>
          <a:noFill/>
          <a:ln w="12700">
            <a:solidFill>
              <a:srgbClr val="D5DC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99232" y="2651760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25466"/>
                </a:solidFill>
              </a:rPr>
              <a:t>______________________________________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14400" y="311810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0B2447"/>
                </a:solidFill>
              </a:rPr>
              <a:t>NDA Status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2880360" y="3282696"/>
            <a:ext cx="8138160" cy="0"/>
          </a:xfrm>
          <a:prstGeom prst="line">
            <a:avLst/>
          </a:prstGeom>
          <a:noFill/>
          <a:ln w="12700">
            <a:solidFill>
              <a:srgbClr val="D5DC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99232" y="3136392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25466"/>
                </a:solidFill>
              </a:rPr>
              <a:t>______________________________________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14400" y="360273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0B2447"/>
                </a:solidFill>
              </a:rPr>
              <a:t>Next Action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2880360" y="3767328"/>
            <a:ext cx="8138160" cy="0"/>
          </a:xfrm>
          <a:prstGeom prst="line">
            <a:avLst/>
          </a:prstGeom>
          <a:noFill/>
          <a:ln w="12700">
            <a:solidFill>
              <a:srgbClr val="D5DC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99232" y="3621024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25466"/>
                </a:solidFill>
              </a:rPr>
              <a:t>______________________________________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14400" y="40873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0B2447"/>
                </a:solidFill>
              </a:rPr>
              <a:t>Owner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2880360" y="4251960"/>
            <a:ext cx="8138160" cy="0"/>
          </a:xfrm>
          <a:prstGeom prst="line">
            <a:avLst/>
          </a:prstGeom>
          <a:noFill/>
          <a:ln w="12700">
            <a:solidFill>
              <a:srgbClr val="D5DC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99232" y="4105656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25466"/>
                </a:solidFill>
              </a:rPr>
              <a:t>______________________________________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14400" y="45720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0B2447"/>
                </a:solidFill>
              </a:rPr>
              <a:t>Deadline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2880360" y="4736592"/>
            <a:ext cx="8138160" cy="0"/>
          </a:xfrm>
          <a:prstGeom prst="line">
            <a:avLst/>
          </a:prstGeom>
          <a:noFill/>
          <a:ln w="12700">
            <a:solidFill>
              <a:srgbClr val="D5DC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99232" y="4590288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25466"/>
                </a:solidFill>
              </a:rPr>
              <a:t>______________________________________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14400" y="50566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0B2447"/>
                </a:solidFill>
              </a:rPr>
              <a:t>Next Review</a:t>
            </a:r>
            <a:endParaRPr lang="en-US" sz="1020" dirty="0"/>
          </a:p>
        </p:txBody>
      </p:sp>
      <p:sp>
        <p:nvSpPr>
          <p:cNvPr id="27" name="Shape 25"/>
          <p:cNvSpPr/>
          <p:nvPr/>
        </p:nvSpPr>
        <p:spPr>
          <a:xfrm>
            <a:off x="2880360" y="5221224"/>
            <a:ext cx="8138160" cy="0"/>
          </a:xfrm>
          <a:prstGeom prst="line">
            <a:avLst/>
          </a:prstGeom>
          <a:noFill/>
          <a:ln w="12700">
            <a:solidFill>
              <a:srgbClr val="D5DC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99232" y="5074920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25466"/>
                </a:solidFill>
              </a:rPr>
              <a:t>______________________________________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965960" y="5532120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65960" y="5532120"/>
            <a:ext cx="64008" cy="603504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130552" y="5641848"/>
            <a:ext cx="7973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0B2447"/>
                </a:solidFill>
              </a:rPr>
              <a:t>Close rule</a:t>
            </a:r>
            <a:endParaRPr lang="en-US" sz="1060" dirty="0"/>
          </a:p>
        </p:txBody>
      </p:sp>
      <p:sp>
        <p:nvSpPr>
          <p:cNvPr id="32" name="Text 30"/>
          <p:cNvSpPr/>
          <p:nvPr/>
        </p:nvSpPr>
        <p:spPr>
          <a:xfrm>
            <a:off x="2130552" y="5961888"/>
            <a:ext cx="7973568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83247"/>
                </a:solidFill>
              </a:rPr>
              <a:t>No hidden commitment. No open-ended scope. Read back owner + deadline + evidence before adjournment.</a:t>
            </a:r>
            <a:endParaRPr lang="en-US" sz="8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T-OCS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T-OCS V7.0 REVISION-2 — NON-CONFIDENTIAL CORPORATE TECHNICAL &amp; TECHNICAL-QUALIFICATION PRESENTATION</dc:title>
  <dc:subject>T-OCS V7.0 REVISION-2 — Non-Confidential Corporate Technical &amp; Technical-Qualification Presentation</dc:subject>
  <dc:creator>JON_CHATGPT</dc:creator>
  <cp:lastModifiedBy>JON_CHATGPT</cp:lastModifiedBy>
  <cp:revision>1</cp:revision>
  <dcterms:created xsi:type="dcterms:W3CDTF">2026-09-22T18:47:23Z</dcterms:created>
  <dcterms:modified xsi:type="dcterms:W3CDTF">2026-09-22T18:47:23Z</dcterms:modified>
</cp:coreProperties>
</file>